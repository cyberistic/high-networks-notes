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58" r:id="rId14"/>
    <p:sldId id="259" r:id="rId15"/>
    <p:sldId id="260" r:id="rId16"/>
    <p:sldId id="261" r:id="rId17"/>
    <p:sldId id="262" r:id="rId18"/>
    <p:sldId id="275" r:id="rId19"/>
    <p:sldId id="263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188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34933-39AE-6C45-8E7D-871F254876B5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C9626-59D9-9A40-856B-F28911F0C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9849F-7B81-824C-8B76-73685940092A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07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7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6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9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1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5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2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4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2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683125"/>
          </a:xfr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038600" cy="2265363"/>
          </a:xfr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65563"/>
            <a:ext cx="4038600" cy="2265362"/>
          </a:xfr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7E4A5-97B3-2C43-9BA6-2313F2AD1C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1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E257E-3517-8E4E-85B4-55DDAB6C5E97}" type="datetimeFigureOut">
              <a:rPr lang="en-US" smtClean="0"/>
              <a:t>13-03-23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D6CE4-0CF3-F340-BEC1-2E06F3EEF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8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4767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 dirty="0" smtClean="0">
                <a:cs typeface="+mj-cs"/>
              </a:rPr>
              <a:t>Circuit and Packet Switching </a:t>
            </a:r>
            <a:r>
              <a:rPr lang="en-US" sz="4400" dirty="0" smtClean="0">
                <a:cs typeface="+mj-cs"/>
              </a:rPr>
              <a:t>Networks</a:t>
            </a: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7770812" cy="2970212"/>
          </a:xfrm>
        </p:spPr>
        <p:txBody>
          <a:bodyPr/>
          <a:lstStyle/>
          <a:p>
            <a:pPr eaLnBrk="1" hangingPunct="1">
              <a:defRPr/>
            </a:pPr>
            <a:endParaRPr lang="en-US" b="1" i="1" dirty="0" smtClean="0">
              <a:solidFill>
                <a:schemeClr val="tx1"/>
              </a:solidFill>
              <a:cs typeface="+mn-cs"/>
            </a:endParaRP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b="1" i="1" dirty="0" smtClean="0">
                <a:solidFill>
                  <a:schemeClr val="tx1"/>
                </a:solidFill>
              </a:rPr>
              <a:t>Circuit Switching Vs. Packet switching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b="1" i="1" dirty="0" smtClean="0">
                <a:solidFill>
                  <a:schemeClr val="tx1"/>
                </a:solidFill>
                <a:cs typeface="+mn-cs"/>
              </a:rPr>
              <a:t>Traffic </a:t>
            </a:r>
            <a:r>
              <a:rPr lang="en-US" b="1" i="1" dirty="0" smtClean="0">
                <a:solidFill>
                  <a:schemeClr val="tx1"/>
                </a:solidFill>
                <a:cs typeface="+mn-cs"/>
              </a:rPr>
              <a:t>and Overload Control in Telephone Networks</a:t>
            </a:r>
          </a:p>
        </p:txBody>
      </p:sp>
    </p:spTree>
    <p:extLst>
      <p:ext uri="{BB962C8B-B14F-4D97-AF65-F5344CB8AC3E}">
        <p14:creationId xmlns:p14="http://schemas.microsoft.com/office/powerpoint/2010/main" val="202695572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 sz="4000">
                <a:latin typeface="Times New Roman" charset="0"/>
              </a:rPr>
              <a:t>Packet Switching vs. Circuit Switching</a:t>
            </a:r>
            <a:endParaRPr lang="en-US" sz="4000">
              <a:latin typeface="Times New Roman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281" y="1700214"/>
            <a:ext cx="7577503" cy="4681537"/>
          </a:xfrm>
        </p:spPr>
        <p:txBody>
          <a:bodyPr>
            <a:normAutofit fontScale="92500" lnSpcReduction="10000"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GB" dirty="0" smtClean="0">
                <a:ea typeface="+mn-ea"/>
              </a:rPr>
              <a:t>Packet-switched and circuit-switched networks use two different technologies for sending messages and data from one point to another.</a:t>
            </a:r>
          </a:p>
          <a:p>
            <a:pPr indent="0">
              <a:buFont typeface="Wingdings" pitchFamily="2" charset="2"/>
              <a:buNone/>
              <a:defRPr/>
            </a:pPr>
            <a:endParaRPr lang="en-GB" dirty="0" smtClean="0">
              <a:ea typeface="+mn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dirty="0" smtClean="0">
                <a:ea typeface="+mn-ea"/>
              </a:rPr>
              <a:t>Each has its advantages and disadvantages depending on what you are trying to do.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GB" dirty="0" smtClean="0">
              <a:ea typeface="+mn-ea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GB" dirty="0" smtClean="0">
              <a:ea typeface="+mn-ea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GB" sz="2000" dirty="0" smtClean="0">
              <a:ea typeface="+mn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GB" sz="2000" dirty="0" smtClean="0">
                <a:ea typeface="+mn-ea"/>
              </a:rPr>
              <a:t>adapted from www.teach-ict.com</a:t>
            </a:r>
            <a:endParaRPr lang="en-US" sz="2000" dirty="0" smtClean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284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620714"/>
            <a:ext cx="8238392" cy="750887"/>
          </a:xfrm>
        </p:spPr>
        <p:txBody>
          <a:bodyPr>
            <a:normAutofit fontScale="90000"/>
          </a:bodyPr>
          <a:lstStyle/>
          <a:p>
            <a:r>
              <a:rPr lang="en-GB">
                <a:latin typeface="Times New Roman" charset="0"/>
              </a:rPr>
              <a:t>Packet Switching</a:t>
            </a:r>
            <a:endParaRPr lang="en-US">
              <a:latin typeface="Times New Roman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3931" y="1484313"/>
            <a:ext cx="8242789" cy="2881312"/>
          </a:xfrm>
        </p:spPr>
        <p:txBody>
          <a:bodyPr>
            <a:normAutofit lnSpcReduction="10000"/>
          </a:bodyPr>
          <a:lstStyle/>
          <a:p>
            <a:pPr marL="365125" indent="-365125">
              <a:spcBef>
                <a:spcPts val="300"/>
              </a:spcBef>
            </a:pPr>
            <a:r>
              <a:rPr lang="en-GB" sz="2400">
                <a:latin typeface="Times" charset="0"/>
              </a:rPr>
              <a:t>In packet-based networks,  the message gets broken into small data packets.  </a:t>
            </a:r>
          </a:p>
          <a:p>
            <a:pPr marL="365125" indent="-365125">
              <a:spcBef>
                <a:spcPts val="300"/>
              </a:spcBef>
            </a:pPr>
            <a:r>
              <a:rPr lang="en-GB" sz="2400">
                <a:latin typeface="Times" charset="0"/>
              </a:rPr>
              <a:t>These packets are sent out from the computer and they travel around the network seeking out the most efficient route to travel as circuits become available.  </a:t>
            </a:r>
          </a:p>
          <a:p>
            <a:pPr marL="365125" indent="-365125">
              <a:spcBef>
                <a:spcPts val="300"/>
              </a:spcBef>
            </a:pPr>
            <a:r>
              <a:rPr lang="en-GB" sz="2400">
                <a:latin typeface="Times" charset="0"/>
              </a:rPr>
              <a:t>This does not necessarily mean that they seek out the shortest route.</a:t>
            </a:r>
          </a:p>
          <a:p>
            <a:pPr marL="365125" indent="-365125">
              <a:spcBef>
                <a:spcPts val="300"/>
              </a:spcBef>
            </a:pPr>
            <a:r>
              <a:rPr lang="en-GB" sz="2400">
                <a:latin typeface="Times" charset="0"/>
              </a:rPr>
              <a:t>Each packet may go a different route from the others.</a:t>
            </a:r>
          </a:p>
        </p:txBody>
      </p:sp>
      <p:pic>
        <p:nvPicPr>
          <p:cNvPr id="3076" name="Picture 6" descr="packet.switchin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704" y="4365625"/>
            <a:ext cx="3833446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5319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>
                <a:latin typeface="Times New Roman" charset="0"/>
              </a:rPr>
              <a:t>Packet Switching</a:t>
            </a:r>
            <a:endParaRPr lang="en-US">
              <a:latin typeface="Times New Roman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1016" y="1447800"/>
            <a:ext cx="6487258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Times" charset="0"/>
              </a:rPr>
              <a:t>Each packet is sent with a </a:t>
            </a:r>
            <a:r>
              <a:rPr lang="ja-JP" altLang="en-GB" sz="2400" dirty="0">
                <a:latin typeface="Times" charset="0"/>
              </a:rPr>
              <a:t>‘</a:t>
            </a:r>
            <a:r>
              <a:rPr lang="en-GB" sz="2400" dirty="0">
                <a:latin typeface="Times" charset="0"/>
              </a:rPr>
              <a:t>header address</a:t>
            </a:r>
            <a:r>
              <a:rPr lang="ja-JP" altLang="en-GB" sz="2400" dirty="0">
                <a:latin typeface="Times" charset="0"/>
              </a:rPr>
              <a:t>’</a:t>
            </a:r>
            <a:r>
              <a:rPr lang="en-GB" sz="2400" dirty="0">
                <a:latin typeface="Times" charset="0"/>
              </a:rPr>
              <a:t> which tells it where its final destination is, so it knows where to go.  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latin typeface="Times" charset="0"/>
              </a:rPr>
              <a:t>The header address also describes the sequence for reassembly at the destination computer so that the packets are put back into the correct order.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" charset="0"/>
              </a:rPr>
              <a:t>One packet also contains details of how many packets should be arriving so that the recipient computer knows if one packet has failed to turn up. 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" charset="0"/>
              </a:rPr>
              <a:t>If a packet fails to arrive, the recipient computer sends a message back to the computer which originally sent the data, asking for the missing packet to be resent.</a:t>
            </a:r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274" y="1557338"/>
            <a:ext cx="225962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Box 1"/>
          <p:cNvSpPr txBox="1">
            <a:spLocks noChangeArrowheads="1"/>
          </p:cNvSpPr>
          <p:nvPr/>
        </p:nvSpPr>
        <p:spPr bwMode="auto">
          <a:xfrm>
            <a:off x="6698274" y="4306889"/>
            <a:ext cx="146245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UDP = </a:t>
            </a:r>
          </a:p>
          <a:p>
            <a:r>
              <a:rPr lang="en-US" dirty="0">
                <a:latin typeface="Arial" charset="0"/>
                <a:cs typeface="Arial" charset="0"/>
              </a:rPr>
              <a:t>User Datagram </a:t>
            </a:r>
            <a:r>
              <a:rPr lang="en-US" dirty="0" smtClean="0">
                <a:latin typeface="Arial" charset="0"/>
                <a:cs typeface="Arial" charset="0"/>
              </a:rPr>
              <a:t>Protocol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9819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charset="0"/>
              </a:rPr>
              <a:t>Packet Switching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7927" y="1447800"/>
            <a:ext cx="7174523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GB" sz="3200">
                <a:latin typeface="Times New Roman" charset="0"/>
                <a:cs typeface="Times New Roman" charset="0"/>
              </a:rPr>
              <a:t>Advantages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Security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Bandwidth used to full potential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Devices of different speeds can communicate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Not affected by line failure (redirects signal)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Availability – no waiting for a direct connection to become available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 New Roman" charset="0"/>
                <a:cs typeface="Times New Roman" charset="0"/>
              </a:rPr>
              <a:t>During a crisis or disaster, when the public telephone network might stop working, e-mails and texts can still be sent via packet switching</a:t>
            </a:r>
          </a:p>
        </p:txBody>
      </p:sp>
    </p:spTree>
    <p:extLst>
      <p:ext uri="{BB962C8B-B14F-4D97-AF65-F5344CB8AC3E}">
        <p14:creationId xmlns:p14="http://schemas.microsoft.com/office/powerpoint/2010/main" val="1925497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charset="0"/>
              </a:rPr>
              <a:t>Packet Switching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7927" y="1447800"/>
            <a:ext cx="7174523" cy="4876800"/>
          </a:xfrm>
        </p:spPr>
        <p:txBody>
          <a:bodyPr/>
          <a:lstStyle/>
          <a:p>
            <a:pPr marL="0" lvl="1">
              <a:buFontTx/>
              <a:buNone/>
            </a:pPr>
            <a:r>
              <a:rPr lang="en-GB" sz="3200">
                <a:latin typeface="Times New Roman" charset="0"/>
                <a:cs typeface="Times New Roman" charset="0"/>
              </a:rPr>
              <a:t>Disadvantages</a:t>
            </a:r>
          </a:p>
          <a:p>
            <a:pPr marL="457200" lvl="2"/>
            <a:r>
              <a:rPr lang="en-GB" sz="2800">
                <a:latin typeface="Times New Roman" charset="0"/>
                <a:cs typeface="Times New Roman" charset="0"/>
              </a:rPr>
              <a:t>Under heavy use there can be a delay</a:t>
            </a:r>
          </a:p>
          <a:p>
            <a:pPr marL="457200" lvl="2"/>
            <a:r>
              <a:rPr lang="en-GB" sz="2800">
                <a:latin typeface="Times New Roman" charset="0"/>
                <a:cs typeface="Times New Roman" charset="0"/>
              </a:rPr>
              <a:t>Data packets can get lost or become corrupted</a:t>
            </a:r>
          </a:p>
          <a:p>
            <a:pPr marL="457200" lvl="2"/>
            <a:r>
              <a:rPr lang="en-GB" sz="2800">
                <a:latin typeface="Times New Roman" charset="0"/>
                <a:cs typeface="Times New Roman" charset="0"/>
              </a:rPr>
              <a:t>Protocols are needed for a reliable transfer</a:t>
            </a:r>
          </a:p>
          <a:p>
            <a:pPr marL="457200" lvl="2"/>
            <a:r>
              <a:rPr lang="en-GB" sz="2800">
                <a:latin typeface="Times New Roman" charset="0"/>
                <a:cs typeface="Times New Roman" charset="0"/>
              </a:rPr>
              <a:t>Not so good for some types data streams (e.g. real-time video streams can lose frames due to the way packets arrive out of sequence) </a:t>
            </a:r>
          </a:p>
        </p:txBody>
      </p:sp>
    </p:spTree>
    <p:extLst>
      <p:ext uri="{BB962C8B-B14F-4D97-AF65-F5344CB8AC3E}">
        <p14:creationId xmlns:p14="http://schemas.microsoft.com/office/powerpoint/2010/main" val="420663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  <a:endParaRPr lang="en-US">
              <a:latin typeface="Times New Roman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338" y="1628775"/>
            <a:ext cx="7879374" cy="2520950"/>
          </a:xfrm>
        </p:spPr>
        <p:txBody>
          <a:bodyPr>
            <a:normAutofit fontScale="92500" lnSpcReduction="20000"/>
          </a:bodyPr>
          <a:lstStyle/>
          <a:p>
            <a:r>
              <a:rPr lang="en-GB">
                <a:latin typeface="Times New Roman" charset="0"/>
                <a:cs typeface="Times New Roman" charset="0"/>
              </a:rPr>
              <a:t>Circuit switching was de</a:t>
            </a:r>
            <a:r>
              <a:rPr lang="en-GB">
                <a:latin typeface="Times" charset="0"/>
              </a:rPr>
              <a:t>signed in 1878 in order to send telephone calls down a dedicated channel.  </a:t>
            </a:r>
          </a:p>
          <a:p>
            <a:r>
              <a:rPr lang="en-GB">
                <a:latin typeface="Times" charset="0"/>
              </a:rPr>
              <a:t>This channel remains open and in use throughout the whole call and cannot be used by any other data or phone calls.</a:t>
            </a:r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024" y="4005263"/>
            <a:ext cx="3956538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70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  <a:endParaRPr lang="en-US">
              <a:latin typeface="Times New Roman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339" y="1700213"/>
            <a:ext cx="7680081" cy="4648200"/>
          </a:xfrm>
        </p:spPr>
        <p:txBody>
          <a:bodyPr/>
          <a:lstStyle/>
          <a:p>
            <a:r>
              <a:rPr lang="en-GB">
                <a:latin typeface="Times" charset="0"/>
              </a:rPr>
              <a:t>There are three phases in circuit switching:</a:t>
            </a:r>
          </a:p>
          <a:p>
            <a:pPr lvl="1"/>
            <a:r>
              <a:rPr lang="en-GB" sz="2800">
                <a:latin typeface="Times" charset="0"/>
              </a:rPr>
              <a:t>Establish</a:t>
            </a:r>
          </a:p>
          <a:p>
            <a:pPr lvl="1"/>
            <a:r>
              <a:rPr lang="en-GB" sz="2800">
                <a:latin typeface="Times" charset="0"/>
              </a:rPr>
              <a:t>Transfer</a:t>
            </a:r>
          </a:p>
          <a:p>
            <a:pPr lvl="1"/>
            <a:r>
              <a:rPr lang="en-GB" sz="2800">
                <a:latin typeface="Times" charset="0"/>
              </a:rPr>
              <a:t>Disconnect</a:t>
            </a:r>
            <a:endParaRPr lang="en-GB">
              <a:latin typeface="Times" charset="0"/>
            </a:endParaRPr>
          </a:p>
          <a:p>
            <a:r>
              <a:rPr lang="en-GB">
                <a:latin typeface="Times" charset="0"/>
              </a:rPr>
              <a:t>The telephone message is sent all together; it is not broken up.  </a:t>
            </a:r>
          </a:p>
          <a:p>
            <a:r>
              <a:rPr lang="en-GB">
                <a:latin typeface="Times" charset="0"/>
              </a:rPr>
              <a:t>The message arrives in the same order that it was originally sent.</a:t>
            </a:r>
          </a:p>
        </p:txBody>
      </p:sp>
    </p:spTree>
    <p:extLst>
      <p:ext uri="{BB962C8B-B14F-4D97-AF65-F5344CB8AC3E}">
        <p14:creationId xmlns:p14="http://schemas.microsoft.com/office/powerpoint/2010/main" val="403430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  <a:endParaRPr lang="en-US">
              <a:latin typeface="Times New Roman" charset="0"/>
            </a:endParaRPr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17282" y="1628775"/>
            <a:ext cx="8031773" cy="4495800"/>
          </a:xfrm>
        </p:spPr>
        <p:txBody>
          <a:bodyPr>
            <a:normAutofit lnSpcReduction="10000"/>
          </a:bodyPr>
          <a:lstStyle/>
          <a:p>
            <a:r>
              <a:rPr lang="en-GB">
                <a:latin typeface="Times" charset="0"/>
              </a:rPr>
              <a:t>In modern circuit-switched networks, electronic signals pass through several switches before a connection is established. </a:t>
            </a:r>
          </a:p>
          <a:p>
            <a:r>
              <a:rPr lang="en-GB">
                <a:latin typeface="Times" charset="0"/>
              </a:rPr>
              <a:t>During a call no other network traffic can use those switches. </a:t>
            </a:r>
          </a:p>
          <a:p>
            <a:r>
              <a:rPr lang="en-GB">
                <a:latin typeface="Times" charset="0"/>
              </a:rPr>
              <a:t>The resources remain dedicated to the circuit during the entire data transfer and the entire message follows the same path. </a:t>
            </a:r>
          </a:p>
          <a:p>
            <a:r>
              <a:rPr lang="en-GB">
                <a:latin typeface="Times" charset="0"/>
              </a:rPr>
              <a:t>Circuit switching can be analog or digital. </a:t>
            </a:r>
          </a:p>
          <a:p>
            <a:endParaRPr lang="en-GB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5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8328" y="266700"/>
            <a:ext cx="8238392" cy="1104900"/>
          </a:xfrm>
        </p:spPr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  <a:endParaRPr lang="en-US">
              <a:latin typeface="Times New Roman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1676400"/>
            <a:ext cx="7820758" cy="4114800"/>
          </a:xfrm>
        </p:spPr>
        <p:txBody>
          <a:bodyPr/>
          <a:lstStyle/>
          <a:p>
            <a:r>
              <a:rPr lang="en-GB">
                <a:latin typeface="Times" charset="0"/>
              </a:rPr>
              <a:t>With the expanded use of the Internet for voice and video, analysts predict a gradual shift away from circuit-switched networks. </a:t>
            </a:r>
          </a:p>
          <a:p>
            <a:r>
              <a:rPr lang="en-GB">
                <a:latin typeface="Times" charset="0"/>
              </a:rPr>
              <a:t>A circuit-switched network is excellent for data that needs a constant link from end-to-end, for example, real-time video.</a:t>
            </a:r>
          </a:p>
        </p:txBody>
      </p:sp>
    </p:spTree>
    <p:extLst>
      <p:ext uri="{BB962C8B-B14F-4D97-AF65-F5344CB8AC3E}">
        <p14:creationId xmlns:p14="http://schemas.microsoft.com/office/powerpoint/2010/main" val="48691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281" y="1412875"/>
            <a:ext cx="7178919" cy="4343400"/>
          </a:xfrm>
        </p:spPr>
        <p:txBody>
          <a:bodyPr/>
          <a:lstStyle/>
          <a:p>
            <a:pPr marL="0" lvl="1">
              <a:lnSpc>
                <a:spcPct val="90000"/>
              </a:lnSpc>
              <a:buFontTx/>
              <a:buNone/>
            </a:pPr>
            <a:r>
              <a:rPr lang="en-GB" sz="3200">
                <a:latin typeface="Times" charset="0"/>
              </a:rPr>
              <a:t>Advantages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Circuit is dedicated to the call – no interference, no sharing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Guaranteed the full bandwidth for the duration of the call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Guaranteed quality of service</a:t>
            </a:r>
          </a:p>
          <a:p>
            <a:pPr marL="457200" lvl="2">
              <a:lnSpc>
                <a:spcPct val="90000"/>
              </a:lnSpc>
              <a:buFontTx/>
              <a:buNone/>
            </a:pPr>
            <a:endParaRPr lang="en-GB" sz="28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6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Times New Roman" charset="0"/>
              </a:rPr>
              <a:t>Circuit Switching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1447800"/>
            <a:ext cx="7820758" cy="4343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GB" sz="3200">
                <a:latin typeface="Times" charset="0"/>
              </a:rPr>
              <a:t>Disadvantages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Inefficient – the equipment may be unused for a lot of the call; if no data is being sent, the dedicated line still remains open.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It takes a relatively long time to set up the circuit.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During a crisis or disaster, the network may become unstable or unavailable.</a:t>
            </a:r>
          </a:p>
          <a:p>
            <a:pPr marL="457200" lvl="2">
              <a:lnSpc>
                <a:spcPct val="90000"/>
              </a:lnSpc>
            </a:pPr>
            <a:r>
              <a:rPr lang="en-GB" sz="2800">
                <a:latin typeface="Times" charset="0"/>
              </a:rPr>
              <a:t>It was primarily developed for voice traffic rather than data traffic.</a:t>
            </a:r>
          </a:p>
        </p:txBody>
      </p:sp>
    </p:spTree>
    <p:extLst>
      <p:ext uri="{BB962C8B-B14F-4D97-AF65-F5344CB8AC3E}">
        <p14:creationId xmlns:p14="http://schemas.microsoft.com/office/powerpoint/2010/main" val="155780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500" smtClean="0">
                <a:cs typeface="+mj-cs"/>
              </a:rPr>
              <a:t>Traffic Management &amp; Overload Control</a:t>
            </a:r>
          </a:p>
        </p:txBody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591550" cy="468312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cs typeface="+mn-cs"/>
              </a:rPr>
              <a:t>Telephone calls come and go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People activity follow patterns</a:t>
            </a:r>
          </a:p>
          <a:p>
            <a:pPr lvl="1" eaLnBrk="1" hangingPunct="1">
              <a:defRPr/>
            </a:pPr>
            <a:r>
              <a:rPr lang="en-US" smtClean="0"/>
              <a:t>Mid-morning &amp; mid-afternoon at office</a:t>
            </a:r>
          </a:p>
          <a:p>
            <a:pPr lvl="1" eaLnBrk="1" hangingPunct="1">
              <a:defRPr/>
            </a:pPr>
            <a:r>
              <a:rPr lang="en-US" smtClean="0"/>
              <a:t>Evening at home</a:t>
            </a:r>
          </a:p>
          <a:p>
            <a:pPr lvl="1" eaLnBrk="1" hangingPunct="1">
              <a:defRPr/>
            </a:pPr>
            <a:r>
              <a:rPr lang="en-US" smtClean="0"/>
              <a:t>Summer vacation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Outlier Days are extra busy</a:t>
            </a:r>
          </a:p>
          <a:p>
            <a:pPr lvl="1" eaLnBrk="1" hangingPunct="1">
              <a:defRPr/>
            </a:pPr>
            <a:r>
              <a:rPr lang="en-US" smtClean="0"/>
              <a:t>Mother</a:t>
            </a:r>
            <a:r>
              <a:rPr lang="ja-JP" altLang="en-US" smtClean="0">
                <a:latin typeface="Arial"/>
              </a:rPr>
              <a:t>’</a:t>
            </a:r>
            <a:r>
              <a:rPr lang="en-US" smtClean="0"/>
              <a:t>s Day, Christmas, …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Disasters &amp; other events cause surges in traffic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Need traffic management &amp; overload control</a:t>
            </a:r>
          </a:p>
          <a:p>
            <a:pPr lvl="1"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01628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mtClean="0">
                <a:cs typeface="+mj-cs"/>
              </a:rPr>
              <a:t>Traffic concentration</a:t>
            </a:r>
            <a:endParaRPr lang="en-US" smtClean="0">
              <a:cs typeface="+mj-cs"/>
            </a:endParaRPr>
          </a:p>
        </p:txBody>
      </p:sp>
      <p:sp>
        <p:nvSpPr>
          <p:cNvPr id="12441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90550" y="3457575"/>
            <a:ext cx="8229600" cy="28924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CA" sz="2100" smtClean="0">
                <a:cs typeface="+mn-cs"/>
              </a:rPr>
              <a:t>Traffic fluctuates as calls initiated &amp; terminated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CA" sz="1900" smtClean="0"/>
              <a:t>Driven by human activity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CA" sz="2100" smtClean="0">
                <a:cs typeface="+mn-cs"/>
              </a:rPr>
              <a:t>Providing resources so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CA" sz="1900" smtClean="0"/>
              <a:t>Call requests </a:t>
            </a:r>
            <a:r>
              <a:rPr lang="en-CA" sz="1900" i="1" smtClean="0"/>
              <a:t>always</a:t>
            </a:r>
            <a:r>
              <a:rPr lang="en-CA" sz="1900" smtClean="0"/>
              <a:t> met is too expensive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CA" sz="1900" smtClean="0"/>
              <a:t>Call requests met </a:t>
            </a:r>
            <a:r>
              <a:rPr lang="en-CA" sz="1900" i="1" smtClean="0"/>
              <a:t>most of the time</a:t>
            </a:r>
            <a:r>
              <a:rPr lang="en-CA" sz="1900" smtClean="0"/>
              <a:t> cost-effective</a:t>
            </a:r>
            <a:endParaRPr lang="en-CA" sz="1900" i="1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CA" sz="2100" smtClean="0">
                <a:cs typeface="+mn-cs"/>
              </a:rPr>
              <a:t>Switches concentrate traffic onto </a:t>
            </a:r>
            <a:r>
              <a:rPr lang="en-CA" sz="2100" i="1" smtClean="0">
                <a:cs typeface="+mn-cs"/>
              </a:rPr>
              <a:t>shared</a:t>
            </a:r>
            <a:r>
              <a:rPr lang="en-CA" sz="2100" smtClean="0">
                <a:cs typeface="+mn-cs"/>
              </a:rPr>
              <a:t> trunks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CA" sz="1900" smtClean="0"/>
              <a:t>Blocking of requests will occur from time to time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CA" sz="2100" smtClean="0">
                <a:cs typeface="+mn-cs"/>
              </a:rPr>
              <a:t>Traffic engineering provisions resources to meet blocking performance targets</a:t>
            </a:r>
          </a:p>
        </p:txBody>
      </p:sp>
      <p:grpSp>
        <p:nvGrpSpPr>
          <p:cNvPr id="145411" name="Group 6"/>
          <p:cNvGrpSpPr>
            <a:grpSpLocks/>
          </p:cNvGrpSpPr>
          <p:nvPr/>
        </p:nvGrpSpPr>
        <p:grpSpPr bwMode="auto">
          <a:xfrm>
            <a:off x="2146300" y="1412875"/>
            <a:ext cx="4706938" cy="1736725"/>
            <a:chOff x="1172" y="950"/>
            <a:chExt cx="2965" cy="1094"/>
          </a:xfrm>
        </p:grpSpPr>
        <p:sp>
          <p:nvSpPr>
            <p:cNvPr id="1244167" name="AutoShape 7"/>
            <p:cNvSpPr>
              <a:spLocks noChangeArrowheads="1"/>
            </p:cNvSpPr>
            <p:nvPr/>
          </p:nvSpPr>
          <p:spPr bwMode="auto">
            <a:xfrm rot="5400000" flipV="1">
              <a:off x="2107" y="1143"/>
              <a:ext cx="1094" cy="708"/>
            </a:xfrm>
            <a:custGeom>
              <a:avLst/>
              <a:gdLst>
                <a:gd name="G0" fmla="+- 5399 0 0"/>
                <a:gd name="G1" fmla="+- 21600 0 5399"/>
                <a:gd name="G2" fmla="*/ 5399 1 2"/>
                <a:gd name="G3" fmla="+- 21600 0 G2"/>
                <a:gd name="G4" fmla="+/ 5399 21600 2"/>
                <a:gd name="G5" fmla="+/ G1 0 2"/>
                <a:gd name="G6" fmla="*/ 21600 21600 5399"/>
                <a:gd name="G7" fmla="*/ G6 1 2"/>
                <a:gd name="G8" fmla="+- 21600 0 G7"/>
                <a:gd name="G9" fmla="*/ 21600 1 2"/>
                <a:gd name="G10" fmla="+- 5399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2">
                <a:alpha val="60001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46662" dir="2115817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68" name="Line 8"/>
            <p:cNvSpPr>
              <a:spLocks noChangeShapeType="1"/>
            </p:cNvSpPr>
            <p:nvPr/>
          </p:nvSpPr>
          <p:spPr bwMode="auto">
            <a:xfrm>
              <a:off x="1763" y="1897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69" name="Line 9"/>
            <p:cNvSpPr>
              <a:spLocks noChangeShapeType="1"/>
            </p:cNvSpPr>
            <p:nvPr/>
          </p:nvSpPr>
          <p:spPr bwMode="auto">
            <a:xfrm>
              <a:off x="1751" y="1769"/>
              <a:ext cx="5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0" name="Line 10"/>
            <p:cNvSpPr>
              <a:spLocks noChangeShapeType="1"/>
            </p:cNvSpPr>
            <p:nvPr/>
          </p:nvSpPr>
          <p:spPr bwMode="auto">
            <a:xfrm>
              <a:off x="3014" y="1711"/>
              <a:ext cx="5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1" name="Line 11"/>
            <p:cNvSpPr>
              <a:spLocks noChangeShapeType="1"/>
            </p:cNvSpPr>
            <p:nvPr/>
          </p:nvSpPr>
          <p:spPr bwMode="auto">
            <a:xfrm>
              <a:off x="3002" y="1289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2" name="Line 12"/>
            <p:cNvSpPr>
              <a:spLocks noChangeShapeType="1"/>
            </p:cNvSpPr>
            <p:nvPr/>
          </p:nvSpPr>
          <p:spPr bwMode="auto">
            <a:xfrm>
              <a:off x="1761" y="1236"/>
              <a:ext cx="5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3" name="Line 13"/>
            <p:cNvSpPr>
              <a:spLocks noChangeShapeType="1"/>
            </p:cNvSpPr>
            <p:nvPr/>
          </p:nvSpPr>
          <p:spPr bwMode="auto">
            <a:xfrm>
              <a:off x="1773" y="1108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4" name="Line 14"/>
            <p:cNvSpPr>
              <a:spLocks noChangeShapeType="1"/>
            </p:cNvSpPr>
            <p:nvPr/>
          </p:nvSpPr>
          <p:spPr bwMode="auto">
            <a:xfrm>
              <a:off x="3002" y="1417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5" name="Rectangle 15"/>
            <p:cNvSpPr>
              <a:spLocks noChangeArrowheads="1"/>
            </p:cNvSpPr>
            <p:nvPr/>
          </p:nvSpPr>
          <p:spPr bwMode="auto">
            <a:xfrm>
              <a:off x="3623" y="1365"/>
              <a:ext cx="51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85000"/>
                </a:lnSpc>
                <a:defRPr/>
              </a:pPr>
              <a:r>
                <a:rPr lang="en-US">
                  <a:cs typeface="+mn-cs"/>
                </a:rPr>
                <a:t>Fewer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>
                  <a:cs typeface="+mn-cs"/>
                </a:rPr>
                <a:t>trunks</a:t>
              </a:r>
            </a:p>
          </p:txBody>
        </p:sp>
        <p:sp>
          <p:nvSpPr>
            <p:cNvPr id="1244176" name="Rectangle 16"/>
            <p:cNvSpPr>
              <a:spLocks noChangeArrowheads="1"/>
            </p:cNvSpPr>
            <p:nvPr/>
          </p:nvSpPr>
          <p:spPr bwMode="auto">
            <a:xfrm>
              <a:off x="1172" y="1343"/>
              <a:ext cx="466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85000"/>
                </a:lnSpc>
                <a:defRPr/>
              </a:pPr>
              <a:r>
                <a:rPr lang="en-US">
                  <a:cs typeface="+mn-cs"/>
                </a:rPr>
                <a:t>Many</a:t>
              </a:r>
            </a:p>
            <a:p>
              <a:pPr algn="l">
                <a:lnSpc>
                  <a:spcPct val="85000"/>
                </a:lnSpc>
                <a:defRPr/>
              </a:pPr>
              <a:r>
                <a:rPr lang="en-US">
                  <a:cs typeface="+mn-cs"/>
                </a:rPr>
                <a:t>lines</a:t>
              </a:r>
            </a:p>
          </p:txBody>
        </p:sp>
        <p:sp>
          <p:nvSpPr>
            <p:cNvPr id="1244177" name="Line 17"/>
            <p:cNvSpPr>
              <a:spLocks noChangeShapeType="1"/>
            </p:cNvSpPr>
            <p:nvPr/>
          </p:nvSpPr>
          <p:spPr bwMode="auto">
            <a:xfrm>
              <a:off x="1761" y="1372"/>
              <a:ext cx="5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8" name="Line 18"/>
            <p:cNvSpPr>
              <a:spLocks noChangeShapeType="1"/>
            </p:cNvSpPr>
            <p:nvPr/>
          </p:nvSpPr>
          <p:spPr bwMode="auto">
            <a:xfrm>
              <a:off x="1773" y="1508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44179" name="Line 19"/>
            <p:cNvSpPr>
              <a:spLocks noChangeShapeType="1"/>
            </p:cNvSpPr>
            <p:nvPr/>
          </p:nvSpPr>
          <p:spPr bwMode="auto">
            <a:xfrm>
              <a:off x="3018" y="1545"/>
              <a:ext cx="52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79543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433" name="Group 143"/>
          <p:cNvGrpSpPr>
            <a:grpSpLocks/>
          </p:cNvGrpSpPr>
          <p:nvPr/>
        </p:nvGrpSpPr>
        <p:grpSpPr bwMode="auto">
          <a:xfrm>
            <a:off x="506413" y="4171950"/>
            <a:ext cx="7615237" cy="2393950"/>
            <a:chOff x="331" y="2382"/>
            <a:chExt cx="4797" cy="1508"/>
          </a:xfrm>
        </p:grpSpPr>
        <p:sp>
          <p:nvSpPr>
            <p:cNvPr id="1075271" name="Line 71"/>
            <p:cNvSpPr>
              <a:spLocks noChangeShapeType="1"/>
            </p:cNvSpPr>
            <p:nvPr/>
          </p:nvSpPr>
          <p:spPr bwMode="auto">
            <a:xfrm>
              <a:off x="860" y="2382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2" name="Line 72"/>
            <p:cNvSpPr>
              <a:spLocks noChangeShapeType="1"/>
            </p:cNvSpPr>
            <p:nvPr/>
          </p:nvSpPr>
          <p:spPr bwMode="auto">
            <a:xfrm>
              <a:off x="872" y="3864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3" name="Line 73"/>
            <p:cNvSpPr>
              <a:spLocks noChangeShapeType="1"/>
            </p:cNvSpPr>
            <p:nvPr/>
          </p:nvSpPr>
          <p:spPr bwMode="auto">
            <a:xfrm>
              <a:off x="872" y="2594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4" name="Line 74"/>
            <p:cNvSpPr>
              <a:spLocks noChangeShapeType="1"/>
            </p:cNvSpPr>
            <p:nvPr/>
          </p:nvSpPr>
          <p:spPr bwMode="auto">
            <a:xfrm>
              <a:off x="872" y="2805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5" name="Line 75"/>
            <p:cNvSpPr>
              <a:spLocks noChangeShapeType="1"/>
            </p:cNvSpPr>
            <p:nvPr/>
          </p:nvSpPr>
          <p:spPr bwMode="auto">
            <a:xfrm>
              <a:off x="872" y="3017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6" name="Line 76"/>
            <p:cNvSpPr>
              <a:spLocks noChangeShapeType="1"/>
            </p:cNvSpPr>
            <p:nvPr/>
          </p:nvSpPr>
          <p:spPr bwMode="auto">
            <a:xfrm>
              <a:off x="872" y="3229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7" name="Line 77"/>
            <p:cNvSpPr>
              <a:spLocks noChangeShapeType="1"/>
            </p:cNvSpPr>
            <p:nvPr/>
          </p:nvSpPr>
          <p:spPr bwMode="auto">
            <a:xfrm>
              <a:off x="872" y="3441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8" name="Line 78"/>
            <p:cNvSpPr>
              <a:spLocks noChangeShapeType="1"/>
            </p:cNvSpPr>
            <p:nvPr/>
          </p:nvSpPr>
          <p:spPr bwMode="auto">
            <a:xfrm>
              <a:off x="872" y="3652"/>
              <a:ext cx="4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79" name="Rectangle 79"/>
            <p:cNvSpPr>
              <a:spLocks noChangeArrowheads="1"/>
            </p:cNvSpPr>
            <p:nvPr/>
          </p:nvSpPr>
          <p:spPr bwMode="auto">
            <a:xfrm>
              <a:off x="1288" y="2385"/>
              <a:ext cx="1792" cy="206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0" name="Rectangle 80"/>
            <p:cNvSpPr>
              <a:spLocks noChangeArrowheads="1"/>
            </p:cNvSpPr>
            <p:nvPr/>
          </p:nvSpPr>
          <p:spPr bwMode="auto">
            <a:xfrm>
              <a:off x="886" y="2799"/>
              <a:ext cx="2968" cy="21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1" name="Rectangle 81"/>
            <p:cNvSpPr>
              <a:spLocks noChangeArrowheads="1"/>
            </p:cNvSpPr>
            <p:nvPr/>
          </p:nvSpPr>
          <p:spPr bwMode="auto">
            <a:xfrm>
              <a:off x="1942" y="2597"/>
              <a:ext cx="2896" cy="205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2" name="Rectangle 82"/>
            <p:cNvSpPr>
              <a:spLocks noChangeArrowheads="1"/>
            </p:cNvSpPr>
            <p:nvPr/>
          </p:nvSpPr>
          <p:spPr bwMode="auto">
            <a:xfrm>
              <a:off x="1648" y="3020"/>
              <a:ext cx="1204" cy="206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3" name="Rectangle 83"/>
            <p:cNvSpPr>
              <a:spLocks noChangeArrowheads="1"/>
            </p:cNvSpPr>
            <p:nvPr/>
          </p:nvSpPr>
          <p:spPr bwMode="auto">
            <a:xfrm>
              <a:off x="3634" y="3020"/>
              <a:ext cx="1336" cy="206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4" name="Rectangle 84"/>
            <p:cNvSpPr>
              <a:spLocks noChangeArrowheads="1"/>
            </p:cNvSpPr>
            <p:nvPr/>
          </p:nvSpPr>
          <p:spPr bwMode="auto">
            <a:xfrm>
              <a:off x="2128" y="3232"/>
              <a:ext cx="2272" cy="20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5" name="Rectangle 85"/>
            <p:cNvSpPr>
              <a:spLocks noChangeArrowheads="1"/>
            </p:cNvSpPr>
            <p:nvPr/>
          </p:nvSpPr>
          <p:spPr bwMode="auto">
            <a:xfrm>
              <a:off x="1096" y="3444"/>
              <a:ext cx="736" cy="205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6" name="Rectangle 86"/>
            <p:cNvSpPr>
              <a:spLocks noChangeArrowheads="1"/>
            </p:cNvSpPr>
            <p:nvPr/>
          </p:nvSpPr>
          <p:spPr bwMode="auto">
            <a:xfrm>
              <a:off x="2440" y="3444"/>
              <a:ext cx="736" cy="205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7" name="Rectangle 87"/>
            <p:cNvSpPr>
              <a:spLocks noChangeArrowheads="1"/>
            </p:cNvSpPr>
            <p:nvPr/>
          </p:nvSpPr>
          <p:spPr bwMode="auto">
            <a:xfrm>
              <a:off x="4186" y="3655"/>
              <a:ext cx="886" cy="206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8" name="Rectangle 88"/>
            <p:cNvSpPr>
              <a:spLocks noChangeArrowheads="1"/>
            </p:cNvSpPr>
            <p:nvPr/>
          </p:nvSpPr>
          <p:spPr bwMode="auto">
            <a:xfrm>
              <a:off x="2026" y="3655"/>
              <a:ext cx="736" cy="206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89" name="Rectangle 89"/>
            <p:cNvSpPr>
              <a:spLocks noChangeArrowheads="1"/>
            </p:cNvSpPr>
            <p:nvPr/>
          </p:nvSpPr>
          <p:spPr bwMode="auto">
            <a:xfrm>
              <a:off x="579" y="24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1</a:t>
              </a:r>
            </a:p>
          </p:txBody>
        </p:sp>
        <p:sp>
          <p:nvSpPr>
            <p:cNvPr id="1075290" name="Rectangle 90"/>
            <p:cNvSpPr>
              <a:spLocks noChangeArrowheads="1"/>
            </p:cNvSpPr>
            <p:nvPr/>
          </p:nvSpPr>
          <p:spPr bwMode="auto">
            <a:xfrm>
              <a:off x="591" y="2631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2</a:t>
              </a:r>
            </a:p>
          </p:txBody>
        </p:sp>
        <p:sp>
          <p:nvSpPr>
            <p:cNvPr id="1075291" name="Rectangle 91"/>
            <p:cNvSpPr>
              <a:spLocks noChangeArrowheads="1"/>
            </p:cNvSpPr>
            <p:nvPr/>
          </p:nvSpPr>
          <p:spPr bwMode="auto">
            <a:xfrm>
              <a:off x="591" y="2861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3</a:t>
              </a:r>
            </a:p>
          </p:txBody>
        </p:sp>
        <p:sp>
          <p:nvSpPr>
            <p:cNvPr id="1075292" name="Rectangle 92"/>
            <p:cNvSpPr>
              <a:spLocks noChangeArrowheads="1"/>
            </p:cNvSpPr>
            <p:nvPr/>
          </p:nvSpPr>
          <p:spPr bwMode="auto">
            <a:xfrm>
              <a:off x="603" y="3091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4</a:t>
              </a:r>
            </a:p>
          </p:txBody>
        </p:sp>
        <p:sp>
          <p:nvSpPr>
            <p:cNvPr id="1075293" name="Rectangle 93"/>
            <p:cNvSpPr>
              <a:spLocks noChangeArrowheads="1"/>
            </p:cNvSpPr>
            <p:nvPr/>
          </p:nvSpPr>
          <p:spPr bwMode="auto">
            <a:xfrm>
              <a:off x="615" y="3275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5</a:t>
              </a:r>
            </a:p>
          </p:txBody>
        </p:sp>
        <p:sp>
          <p:nvSpPr>
            <p:cNvPr id="1075294" name="Rectangle 94"/>
            <p:cNvSpPr>
              <a:spLocks noChangeArrowheads="1"/>
            </p:cNvSpPr>
            <p:nvPr/>
          </p:nvSpPr>
          <p:spPr bwMode="auto">
            <a:xfrm>
              <a:off x="627" y="3477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6</a:t>
              </a:r>
            </a:p>
          </p:txBody>
        </p:sp>
        <p:sp>
          <p:nvSpPr>
            <p:cNvPr id="1075295" name="Rectangle 95"/>
            <p:cNvSpPr>
              <a:spLocks noChangeArrowheads="1"/>
            </p:cNvSpPr>
            <p:nvPr/>
          </p:nvSpPr>
          <p:spPr bwMode="auto">
            <a:xfrm>
              <a:off x="615" y="368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 b="1">
                  <a:cs typeface="+mn-cs"/>
                </a:rPr>
                <a:t>7</a:t>
              </a:r>
            </a:p>
          </p:txBody>
        </p:sp>
        <p:sp>
          <p:nvSpPr>
            <p:cNvPr id="1075296" name="Rectangle 96"/>
            <p:cNvSpPr>
              <a:spLocks noChangeArrowheads="1"/>
            </p:cNvSpPr>
            <p:nvPr/>
          </p:nvSpPr>
          <p:spPr bwMode="auto">
            <a:xfrm rot="16200000">
              <a:off x="-46" y="2983"/>
              <a:ext cx="9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>
                <a:spcBef>
                  <a:spcPct val="50000"/>
                </a:spcBef>
                <a:defRPr/>
              </a:pPr>
              <a:r>
                <a:rPr lang="en-US" sz="1600">
                  <a:cs typeface="+mn-cs"/>
                </a:rPr>
                <a:t>Trunk number</a:t>
              </a:r>
            </a:p>
          </p:txBody>
        </p:sp>
      </p:grpSp>
      <p:grpSp>
        <p:nvGrpSpPr>
          <p:cNvPr id="146434" name="Group 97"/>
          <p:cNvGrpSpPr>
            <a:grpSpLocks/>
          </p:cNvGrpSpPr>
          <p:nvPr/>
        </p:nvGrpSpPr>
        <p:grpSpPr bwMode="auto">
          <a:xfrm>
            <a:off x="747713" y="1873250"/>
            <a:ext cx="7694612" cy="2071688"/>
            <a:chOff x="267" y="358"/>
            <a:chExt cx="4847" cy="1305"/>
          </a:xfrm>
        </p:grpSpPr>
        <p:sp>
          <p:nvSpPr>
            <p:cNvPr id="1075298" name="Line 98"/>
            <p:cNvSpPr>
              <a:spLocks noChangeShapeType="1"/>
            </p:cNvSpPr>
            <p:nvPr/>
          </p:nvSpPr>
          <p:spPr bwMode="auto">
            <a:xfrm>
              <a:off x="672" y="412"/>
              <a:ext cx="0" cy="1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299" name="Line 99"/>
            <p:cNvSpPr>
              <a:spLocks noChangeShapeType="1"/>
            </p:cNvSpPr>
            <p:nvPr/>
          </p:nvSpPr>
          <p:spPr bwMode="auto">
            <a:xfrm>
              <a:off x="676" y="1536"/>
              <a:ext cx="4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300" name="Rectangle 100"/>
            <p:cNvSpPr>
              <a:spLocks noChangeArrowheads="1"/>
            </p:cNvSpPr>
            <p:nvPr/>
          </p:nvSpPr>
          <p:spPr bwMode="auto">
            <a:xfrm>
              <a:off x="267" y="358"/>
              <a:ext cx="3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i="1">
                  <a:cs typeface="+mn-cs"/>
                </a:rPr>
                <a:t>N(t)</a:t>
              </a:r>
              <a:endParaRPr lang="en-US">
                <a:cs typeface="+mn-cs"/>
              </a:endParaRPr>
            </a:p>
          </p:txBody>
        </p:sp>
        <p:sp>
          <p:nvSpPr>
            <p:cNvPr id="1075301" name="Rectangle 101"/>
            <p:cNvSpPr>
              <a:spLocks noChangeArrowheads="1"/>
            </p:cNvSpPr>
            <p:nvPr/>
          </p:nvSpPr>
          <p:spPr bwMode="auto">
            <a:xfrm>
              <a:off x="4943" y="1434"/>
              <a:ext cx="17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i="1">
                  <a:cs typeface="+mn-cs"/>
                </a:rPr>
                <a:t>t</a:t>
              </a:r>
              <a:endParaRPr lang="en-US">
                <a:cs typeface="+mn-cs"/>
              </a:endParaRPr>
            </a:p>
          </p:txBody>
        </p:sp>
        <p:sp>
          <p:nvSpPr>
            <p:cNvPr id="1075302" name="Line 102"/>
            <p:cNvSpPr>
              <a:spLocks noChangeShapeType="1"/>
            </p:cNvSpPr>
            <p:nvPr/>
          </p:nvSpPr>
          <p:spPr bwMode="auto">
            <a:xfrm flipH="1">
              <a:off x="2480" y="554"/>
              <a:ext cx="296" cy="1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75303" name="Rectangle 103"/>
            <p:cNvSpPr>
              <a:spLocks noChangeArrowheads="1"/>
            </p:cNvSpPr>
            <p:nvPr/>
          </p:nvSpPr>
          <p:spPr bwMode="auto">
            <a:xfrm>
              <a:off x="2587" y="372"/>
              <a:ext cx="248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1600">
                  <a:cs typeface="+mn-cs"/>
                </a:rPr>
                <a:t>All trunks busy, new call requests blocked</a:t>
              </a:r>
            </a:p>
          </p:txBody>
        </p:sp>
        <p:grpSp>
          <p:nvGrpSpPr>
            <p:cNvPr id="146455" name="Group 104"/>
            <p:cNvGrpSpPr>
              <a:grpSpLocks/>
            </p:cNvGrpSpPr>
            <p:nvPr/>
          </p:nvGrpSpPr>
          <p:grpSpPr bwMode="auto">
            <a:xfrm>
              <a:off x="676" y="752"/>
              <a:ext cx="4216" cy="782"/>
              <a:chOff x="676" y="752"/>
              <a:chExt cx="4216" cy="782"/>
            </a:xfrm>
          </p:grpSpPr>
          <p:sp>
            <p:nvSpPr>
              <p:cNvPr id="1075305" name="Line 105"/>
              <p:cNvSpPr>
                <a:spLocks noChangeShapeType="1"/>
              </p:cNvSpPr>
              <p:nvPr/>
            </p:nvSpPr>
            <p:spPr bwMode="auto">
              <a:xfrm>
                <a:off x="676" y="1428"/>
                <a:ext cx="208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06" name="Line 106"/>
              <p:cNvSpPr>
                <a:spLocks noChangeShapeType="1"/>
              </p:cNvSpPr>
              <p:nvPr/>
            </p:nvSpPr>
            <p:spPr bwMode="auto">
              <a:xfrm>
                <a:off x="872" y="1316"/>
                <a:ext cx="202" cy="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07" name="Line 107"/>
              <p:cNvSpPr>
                <a:spLocks noChangeShapeType="1"/>
              </p:cNvSpPr>
              <p:nvPr/>
            </p:nvSpPr>
            <p:spPr bwMode="auto">
              <a:xfrm>
                <a:off x="1064" y="1204"/>
                <a:ext cx="34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08" name="Line 108"/>
              <p:cNvSpPr>
                <a:spLocks noChangeShapeType="1"/>
              </p:cNvSpPr>
              <p:nvPr/>
            </p:nvSpPr>
            <p:spPr bwMode="auto">
              <a:xfrm>
                <a:off x="1416" y="1096"/>
                <a:ext cx="22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09" name="Line 109"/>
              <p:cNvSpPr>
                <a:spLocks noChangeShapeType="1"/>
              </p:cNvSpPr>
              <p:nvPr/>
            </p:nvSpPr>
            <p:spPr bwMode="auto">
              <a:xfrm>
                <a:off x="1628" y="1200"/>
                <a:ext cx="1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0" name="Line 110"/>
              <p:cNvSpPr>
                <a:spLocks noChangeShapeType="1"/>
              </p:cNvSpPr>
              <p:nvPr/>
            </p:nvSpPr>
            <p:spPr bwMode="auto">
              <a:xfrm>
                <a:off x="1736" y="1088"/>
                <a:ext cx="10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1" name="Line 111"/>
              <p:cNvSpPr>
                <a:spLocks noChangeShapeType="1"/>
              </p:cNvSpPr>
              <p:nvPr/>
            </p:nvSpPr>
            <p:spPr bwMode="auto">
              <a:xfrm>
                <a:off x="1832" y="976"/>
                <a:ext cx="112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2" name="Line 112"/>
              <p:cNvSpPr>
                <a:spLocks noChangeShapeType="1"/>
              </p:cNvSpPr>
              <p:nvPr/>
            </p:nvSpPr>
            <p:spPr bwMode="auto">
              <a:xfrm>
                <a:off x="1928" y="864"/>
                <a:ext cx="30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3" name="Line 113"/>
              <p:cNvSpPr>
                <a:spLocks noChangeShapeType="1"/>
              </p:cNvSpPr>
              <p:nvPr/>
            </p:nvSpPr>
            <p:spPr bwMode="auto">
              <a:xfrm>
                <a:off x="2232" y="756"/>
                <a:ext cx="30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4" name="Line 114"/>
              <p:cNvSpPr>
                <a:spLocks noChangeShapeType="1"/>
              </p:cNvSpPr>
              <p:nvPr/>
            </p:nvSpPr>
            <p:spPr bwMode="auto">
              <a:xfrm>
                <a:off x="2524" y="864"/>
                <a:ext cx="124" cy="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5" name="Line 115"/>
              <p:cNvSpPr>
                <a:spLocks noChangeShapeType="1"/>
              </p:cNvSpPr>
              <p:nvPr/>
            </p:nvSpPr>
            <p:spPr bwMode="auto">
              <a:xfrm>
                <a:off x="2632" y="980"/>
                <a:ext cx="250" cy="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6" name="Line 116"/>
              <p:cNvSpPr>
                <a:spLocks noChangeShapeType="1"/>
              </p:cNvSpPr>
              <p:nvPr/>
            </p:nvSpPr>
            <p:spPr bwMode="auto">
              <a:xfrm>
                <a:off x="3662" y="1206"/>
                <a:ext cx="340" cy="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7" name="Line 117"/>
              <p:cNvSpPr>
                <a:spLocks noChangeShapeType="1"/>
              </p:cNvSpPr>
              <p:nvPr/>
            </p:nvSpPr>
            <p:spPr bwMode="auto">
              <a:xfrm>
                <a:off x="2962" y="1204"/>
                <a:ext cx="46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8" name="Line 118"/>
              <p:cNvSpPr>
                <a:spLocks noChangeShapeType="1"/>
              </p:cNvSpPr>
              <p:nvPr/>
            </p:nvSpPr>
            <p:spPr bwMode="auto">
              <a:xfrm>
                <a:off x="3414" y="1100"/>
                <a:ext cx="24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19" name="Line 119"/>
              <p:cNvSpPr>
                <a:spLocks noChangeShapeType="1"/>
              </p:cNvSpPr>
              <p:nvPr/>
            </p:nvSpPr>
            <p:spPr bwMode="auto">
              <a:xfrm>
                <a:off x="2864" y="1098"/>
                <a:ext cx="112" cy="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0" name="Line 120"/>
              <p:cNvSpPr>
                <a:spLocks noChangeShapeType="1"/>
              </p:cNvSpPr>
              <p:nvPr/>
            </p:nvSpPr>
            <p:spPr bwMode="auto">
              <a:xfrm>
                <a:off x="3988" y="1100"/>
                <a:ext cx="22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1" name="Line 121"/>
              <p:cNvSpPr>
                <a:spLocks noChangeShapeType="1"/>
              </p:cNvSpPr>
              <p:nvPr/>
            </p:nvSpPr>
            <p:spPr bwMode="auto">
              <a:xfrm>
                <a:off x="4200" y="1212"/>
                <a:ext cx="45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2" name="Line 122"/>
              <p:cNvSpPr>
                <a:spLocks noChangeShapeType="1"/>
              </p:cNvSpPr>
              <p:nvPr/>
            </p:nvSpPr>
            <p:spPr bwMode="auto">
              <a:xfrm>
                <a:off x="4642" y="1316"/>
                <a:ext cx="118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3" name="Line 123"/>
              <p:cNvSpPr>
                <a:spLocks noChangeShapeType="1"/>
              </p:cNvSpPr>
              <p:nvPr/>
            </p:nvSpPr>
            <p:spPr bwMode="auto">
              <a:xfrm>
                <a:off x="876" y="1320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4" name="Line 124"/>
              <p:cNvSpPr>
                <a:spLocks noChangeShapeType="1"/>
              </p:cNvSpPr>
              <p:nvPr/>
            </p:nvSpPr>
            <p:spPr bwMode="auto">
              <a:xfrm>
                <a:off x="1070" y="1200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5" name="Line 125"/>
              <p:cNvSpPr>
                <a:spLocks noChangeShapeType="1"/>
              </p:cNvSpPr>
              <p:nvPr/>
            </p:nvSpPr>
            <p:spPr bwMode="auto">
              <a:xfrm>
                <a:off x="1416" y="1088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6" name="Line 126"/>
              <p:cNvSpPr>
                <a:spLocks noChangeShapeType="1"/>
              </p:cNvSpPr>
              <p:nvPr/>
            </p:nvSpPr>
            <p:spPr bwMode="auto">
              <a:xfrm>
                <a:off x="1632" y="1092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7" name="Line 127"/>
              <p:cNvSpPr>
                <a:spLocks noChangeShapeType="1"/>
              </p:cNvSpPr>
              <p:nvPr/>
            </p:nvSpPr>
            <p:spPr bwMode="auto">
              <a:xfrm>
                <a:off x="1744" y="1092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8" name="Line 128"/>
              <p:cNvSpPr>
                <a:spLocks noChangeShapeType="1"/>
              </p:cNvSpPr>
              <p:nvPr/>
            </p:nvSpPr>
            <p:spPr bwMode="auto">
              <a:xfrm flipH="1">
                <a:off x="1830" y="972"/>
                <a:ext cx="6" cy="11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29" name="Line 129"/>
              <p:cNvSpPr>
                <a:spLocks noChangeShapeType="1"/>
              </p:cNvSpPr>
              <p:nvPr/>
            </p:nvSpPr>
            <p:spPr bwMode="auto">
              <a:xfrm>
                <a:off x="1932" y="860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0" name="Line 130"/>
              <p:cNvSpPr>
                <a:spLocks noChangeShapeType="1"/>
              </p:cNvSpPr>
              <p:nvPr/>
            </p:nvSpPr>
            <p:spPr bwMode="auto">
              <a:xfrm>
                <a:off x="2244" y="752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1" name="Line 131"/>
              <p:cNvSpPr>
                <a:spLocks noChangeShapeType="1"/>
              </p:cNvSpPr>
              <p:nvPr/>
            </p:nvSpPr>
            <p:spPr bwMode="auto">
              <a:xfrm>
                <a:off x="2532" y="754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2" name="Line 132"/>
              <p:cNvSpPr>
                <a:spLocks noChangeShapeType="1"/>
              </p:cNvSpPr>
              <p:nvPr/>
            </p:nvSpPr>
            <p:spPr bwMode="auto">
              <a:xfrm>
                <a:off x="2640" y="864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3" name="Line 133"/>
              <p:cNvSpPr>
                <a:spLocks noChangeShapeType="1"/>
              </p:cNvSpPr>
              <p:nvPr/>
            </p:nvSpPr>
            <p:spPr bwMode="auto">
              <a:xfrm>
                <a:off x="2872" y="988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4" name="Line 134"/>
              <p:cNvSpPr>
                <a:spLocks noChangeShapeType="1"/>
              </p:cNvSpPr>
              <p:nvPr/>
            </p:nvSpPr>
            <p:spPr bwMode="auto">
              <a:xfrm>
                <a:off x="2970" y="1100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5" name="Line 135"/>
              <p:cNvSpPr>
                <a:spLocks noChangeShapeType="1"/>
              </p:cNvSpPr>
              <p:nvPr/>
            </p:nvSpPr>
            <p:spPr bwMode="auto">
              <a:xfrm>
                <a:off x="3656" y="1104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6" name="Line 136"/>
              <p:cNvSpPr>
                <a:spLocks noChangeShapeType="1"/>
              </p:cNvSpPr>
              <p:nvPr/>
            </p:nvSpPr>
            <p:spPr bwMode="auto">
              <a:xfrm>
                <a:off x="3998" y="1104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7" name="Line 137"/>
              <p:cNvSpPr>
                <a:spLocks noChangeShapeType="1"/>
              </p:cNvSpPr>
              <p:nvPr/>
            </p:nvSpPr>
            <p:spPr bwMode="auto">
              <a:xfrm>
                <a:off x="4204" y="1096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8" name="Line 138"/>
              <p:cNvSpPr>
                <a:spLocks noChangeShapeType="1"/>
              </p:cNvSpPr>
              <p:nvPr/>
            </p:nvSpPr>
            <p:spPr bwMode="auto">
              <a:xfrm>
                <a:off x="4648" y="1200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39" name="Line 139"/>
              <p:cNvSpPr>
                <a:spLocks noChangeShapeType="1"/>
              </p:cNvSpPr>
              <p:nvPr/>
            </p:nvSpPr>
            <p:spPr bwMode="auto">
              <a:xfrm>
                <a:off x="3424" y="1099"/>
                <a:ext cx="0" cy="12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40" name="Line 140"/>
              <p:cNvSpPr>
                <a:spLocks noChangeShapeType="1"/>
              </p:cNvSpPr>
              <p:nvPr/>
            </p:nvSpPr>
            <p:spPr bwMode="auto">
              <a:xfrm>
                <a:off x="4744" y="1430"/>
                <a:ext cx="148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41" name="Line 141"/>
              <p:cNvSpPr>
                <a:spLocks noChangeShapeType="1"/>
              </p:cNvSpPr>
              <p:nvPr/>
            </p:nvSpPr>
            <p:spPr bwMode="auto">
              <a:xfrm>
                <a:off x="4750" y="1314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075342" name="Line 142"/>
              <p:cNvSpPr>
                <a:spLocks noChangeShapeType="1"/>
              </p:cNvSpPr>
              <p:nvPr/>
            </p:nvSpPr>
            <p:spPr bwMode="auto">
              <a:xfrm>
                <a:off x="4888" y="1422"/>
                <a:ext cx="0" cy="11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sp>
        <p:nvSpPr>
          <p:cNvPr id="1075344" name="Line 144"/>
          <p:cNvSpPr>
            <a:spLocks noChangeShapeType="1"/>
          </p:cNvSpPr>
          <p:nvPr/>
        </p:nvSpPr>
        <p:spPr bwMode="auto">
          <a:xfrm>
            <a:off x="3857625" y="1800225"/>
            <a:ext cx="19050" cy="5057775"/>
          </a:xfrm>
          <a:prstGeom prst="line">
            <a:avLst/>
          </a:prstGeom>
          <a:noFill/>
          <a:ln w="9525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75345" name="Line 145"/>
          <p:cNvSpPr>
            <a:spLocks noChangeShapeType="1"/>
          </p:cNvSpPr>
          <p:nvPr/>
        </p:nvSpPr>
        <p:spPr bwMode="auto">
          <a:xfrm>
            <a:off x="4314825" y="1771650"/>
            <a:ext cx="19050" cy="5086350"/>
          </a:xfrm>
          <a:prstGeom prst="line">
            <a:avLst/>
          </a:prstGeom>
          <a:noFill/>
          <a:ln w="9525">
            <a:solidFill>
              <a:srgbClr val="FF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75346" name="Rectangle 1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500" smtClean="0">
                <a:cs typeface="+mj-cs"/>
              </a:rPr>
              <a:t>Fluctuation in Trunk Occupancy</a:t>
            </a:r>
          </a:p>
        </p:txBody>
      </p:sp>
      <p:sp>
        <p:nvSpPr>
          <p:cNvPr id="1075347" name="Text Box 147"/>
          <p:cNvSpPr txBox="1">
            <a:spLocks noChangeArrowheads="1"/>
          </p:cNvSpPr>
          <p:nvPr/>
        </p:nvSpPr>
        <p:spPr bwMode="auto">
          <a:xfrm>
            <a:off x="631825" y="1401763"/>
            <a:ext cx="26066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Number of busy trunks</a:t>
            </a:r>
          </a:p>
        </p:txBody>
      </p:sp>
      <p:sp>
        <p:nvSpPr>
          <p:cNvPr id="1075348" name="Text Box 148"/>
          <p:cNvSpPr txBox="1">
            <a:spLocks noChangeArrowheads="1"/>
          </p:cNvSpPr>
          <p:nvPr/>
        </p:nvSpPr>
        <p:spPr bwMode="auto">
          <a:xfrm>
            <a:off x="3155950" y="4144963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49" name="Text Box 149"/>
          <p:cNvSpPr txBox="1">
            <a:spLocks noChangeArrowheads="1"/>
          </p:cNvSpPr>
          <p:nvPr/>
        </p:nvSpPr>
        <p:spPr bwMode="auto">
          <a:xfrm>
            <a:off x="4937125" y="4497388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0" name="Text Box 150"/>
          <p:cNvSpPr txBox="1">
            <a:spLocks noChangeArrowheads="1"/>
          </p:cNvSpPr>
          <p:nvPr/>
        </p:nvSpPr>
        <p:spPr bwMode="auto">
          <a:xfrm>
            <a:off x="6203950" y="5202238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1" name="Text Box 151"/>
          <p:cNvSpPr txBox="1">
            <a:spLocks noChangeArrowheads="1"/>
          </p:cNvSpPr>
          <p:nvPr/>
        </p:nvSpPr>
        <p:spPr bwMode="auto">
          <a:xfrm>
            <a:off x="6851650" y="6221413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2" name="Text Box 152"/>
          <p:cNvSpPr txBox="1">
            <a:spLocks noChangeArrowheads="1"/>
          </p:cNvSpPr>
          <p:nvPr/>
        </p:nvSpPr>
        <p:spPr bwMode="auto">
          <a:xfrm>
            <a:off x="3346450" y="6192838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3" name="Text Box 153"/>
          <p:cNvSpPr txBox="1">
            <a:spLocks noChangeArrowheads="1"/>
          </p:cNvSpPr>
          <p:nvPr/>
        </p:nvSpPr>
        <p:spPr bwMode="auto">
          <a:xfrm>
            <a:off x="1841500" y="5840413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4" name="Text Box 154"/>
          <p:cNvSpPr txBox="1">
            <a:spLocks noChangeArrowheads="1"/>
          </p:cNvSpPr>
          <p:nvPr/>
        </p:nvSpPr>
        <p:spPr bwMode="auto">
          <a:xfrm>
            <a:off x="4813300" y="5497513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5" name="Text Box 155"/>
          <p:cNvSpPr txBox="1">
            <a:spLocks noChangeArrowheads="1"/>
          </p:cNvSpPr>
          <p:nvPr/>
        </p:nvSpPr>
        <p:spPr bwMode="auto">
          <a:xfrm>
            <a:off x="3908425" y="5840413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6" name="Text Box 156"/>
          <p:cNvSpPr txBox="1">
            <a:spLocks noChangeArrowheads="1"/>
          </p:cNvSpPr>
          <p:nvPr/>
        </p:nvSpPr>
        <p:spPr bwMode="auto">
          <a:xfrm>
            <a:off x="3232150" y="5183188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  <p:sp>
        <p:nvSpPr>
          <p:cNvPr id="1075357" name="Text Box 157"/>
          <p:cNvSpPr txBox="1">
            <a:spLocks noChangeArrowheads="1"/>
          </p:cNvSpPr>
          <p:nvPr/>
        </p:nvSpPr>
        <p:spPr bwMode="auto">
          <a:xfrm>
            <a:off x="3346450" y="4840288"/>
            <a:ext cx="90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Char char="l"/>
              <a:defRPr/>
            </a:pPr>
            <a:r>
              <a:rPr lang="en-US">
                <a:cs typeface="+mn-cs"/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117513859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mtClean="0">
                <a:cs typeface="+mj-cs"/>
              </a:rPr>
              <a:t>Modeling Traffic Processes</a:t>
            </a:r>
            <a:endParaRPr lang="en-US" smtClean="0">
              <a:cs typeface="+mj-cs"/>
            </a:endParaRPr>
          </a:p>
        </p:txBody>
      </p:sp>
      <p:sp>
        <p:nvSpPr>
          <p:cNvPr id="124621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1930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CA" sz="2100" b="1" dirty="0" smtClean="0">
                <a:cs typeface="+mn-cs"/>
              </a:rPr>
              <a:t>Find the statistics of </a:t>
            </a:r>
            <a:r>
              <a:rPr lang="en-CA" sz="2100" b="1" i="1" dirty="0" smtClean="0">
                <a:cs typeface="+mn-cs"/>
              </a:rPr>
              <a:t>N(t)</a:t>
            </a:r>
            <a:r>
              <a:rPr lang="en-CA" sz="2100" b="1" dirty="0" smtClean="0">
                <a:cs typeface="+mn-cs"/>
              </a:rPr>
              <a:t> the number of calls in the system</a:t>
            </a:r>
            <a:endParaRPr lang="en-CA" sz="2100" dirty="0" smtClean="0"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CA" sz="2100" dirty="0" smtClean="0">
              <a:cs typeface="+mn-cs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CA" sz="2100" b="1" dirty="0" smtClean="0">
                <a:solidFill>
                  <a:schemeClr val="tx2"/>
                </a:solidFill>
                <a:cs typeface="+mn-cs"/>
              </a:rPr>
              <a:t>Model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CA" sz="2100" dirty="0" smtClean="0">
                <a:cs typeface="+mn-cs"/>
              </a:rPr>
              <a:t>Call request </a:t>
            </a:r>
            <a:r>
              <a:rPr lang="en-CA" sz="2100" b="1" i="1" dirty="0" smtClean="0">
                <a:cs typeface="+mn-cs"/>
              </a:rPr>
              <a:t>arrival rate</a:t>
            </a:r>
            <a:r>
              <a:rPr lang="en-CA" sz="2100" dirty="0" smtClean="0">
                <a:cs typeface="+mn-cs"/>
              </a:rPr>
              <a:t>:  </a:t>
            </a:r>
            <a:r>
              <a:rPr lang="en-CA" sz="2100" dirty="0" smtClean="0">
                <a:latin typeface="Symbol" charset="0"/>
                <a:cs typeface="+mn-cs"/>
              </a:rPr>
              <a:t>l</a:t>
            </a:r>
            <a:r>
              <a:rPr lang="en-CA" sz="2100" dirty="0" smtClean="0">
                <a:cs typeface="+mn-cs"/>
              </a:rPr>
              <a:t> requests per second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CA" sz="2100" dirty="0" smtClean="0">
                <a:cs typeface="+mn-cs"/>
              </a:rPr>
              <a:t>The </a:t>
            </a:r>
            <a:r>
              <a:rPr lang="en-CA" sz="2100" dirty="0" smtClean="0">
                <a:cs typeface="+mn-cs"/>
              </a:rPr>
              <a:t>resulting random process is a Poisson arrival process:</a:t>
            </a:r>
            <a:endParaRPr lang="en-US" sz="2100" dirty="0" smtClean="0">
              <a:cs typeface="+mn-cs"/>
            </a:endParaRPr>
          </a:p>
        </p:txBody>
      </p:sp>
      <p:sp>
        <p:nvSpPr>
          <p:cNvPr id="1246219" name="Rectangle 11"/>
          <p:cNvSpPr>
            <a:spLocks noChangeArrowheads="1"/>
          </p:cNvSpPr>
          <p:nvPr/>
        </p:nvSpPr>
        <p:spPr bwMode="auto">
          <a:xfrm>
            <a:off x="457200" y="4059237"/>
            <a:ext cx="82296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100" b="1" i="1" dirty="0">
                <a:cs typeface="+mn-cs"/>
              </a:rPr>
              <a:t>Holding time</a:t>
            </a:r>
            <a:r>
              <a:rPr lang="en-CA" sz="2100" dirty="0">
                <a:cs typeface="+mn-cs"/>
              </a:rPr>
              <a:t>: Time a user maintains a connection</a:t>
            </a:r>
            <a:r>
              <a:rPr lang="en-CA" sz="2000" dirty="0">
                <a:cs typeface="+mn-cs"/>
              </a:rPr>
              <a:t>  </a:t>
            </a:r>
            <a:endParaRPr lang="en-CA" sz="2000" i="1" dirty="0"/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100" i="1" dirty="0" smtClean="0">
                <a:cs typeface="+mn-cs"/>
              </a:rPr>
              <a:t>X</a:t>
            </a:r>
            <a:r>
              <a:rPr lang="en-CA" sz="2100" dirty="0" smtClean="0">
                <a:cs typeface="+mn-cs"/>
              </a:rPr>
              <a:t> </a:t>
            </a:r>
            <a:r>
              <a:rPr lang="en-CA" sz="2100" dirty="0">
                <a:cs typeface="+mn-cs"/>
              </a:rPr>
              <a:t>a random variable with mean </a:t>
            </a:r>
            <a:r>
              <a:rPr lang="en-CA" sz="2100" i="1" dirty="0">
                <a:cs typeface="+mn-cs"/>
              </a:rPr>
              <a:t>E(X</a:t>
            </a:r>
            <a:r>
              <a:rPr lang="en-CA" sz="2100" i="1" dirty="0" smtClean="0">
                <a:cs typeface="+mn-cs"/>
              </a:rPr>
              <a:t>), when X is exponential, the service rate 𝝁 =1/E[X]</a:t>
            </a:r>
            <a:endParaRPr lang="en-CA" sz="2100" i="1" dirty="0">
              <a:cs typeface="+mn-cs"/>
            </a:endParaRPr>
          </a:p>
          <a:p>
            <a:pPr marL="342900" indent="-342900" algn="l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100" b="1" i="1" dirty="0">
                <a:cs typeface="+mn-cs"/>
              </a:rPr>
              <a:t>Offered load</a:t>
            </a:r>
            <a:r>
              <a:rPr lang="en-CA" sz="2100" dirty="0">
                <a:cs typeface="+mn-cs"/>
              </a:rPr>
              <a:t>: rate at which work is offered by users:</a:t>
            </a:r>
            <a:r>
              <a:rPr lang="en-CA" sz="2000" dirty="0">
                <a:cs typeface="+mn-cs"/>
              </a:rPr>
              <a:t> </a:t>
            </a:r>
            <a:endParaRPr lang="en-CA" sz="2000" dirty="0" smtClean="0">
              <a:cs typeface="+mn-cs"/>
            </a:endParaRP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000" dirty="0" smtClean="0">
                <a:cs typeface="+mn-cs"/>
              </a:rPr>
              <a:t> 𝞺</a:t>
            </a:r>
            <a:r>
              <a:rPr lang="en-CA" sz="2100" dirty="0" smtClean="0">
                <a:cs typeface="+mn-cs"/>
              </a:rPr>
              <a:t> </a:t>
            </a:r>
            <a:r>
              <a:rPr lang="en-CA" sz="2100" dirty="0">
                <a:cs typeface="+mn-cs"/>
              </a:rPr>
              <a:t>= </a:t>
            </a:r>
            <a:r>
              <a:rPr lang="en-CA" sz="2100" dirty="0">
                <a:latin typeface="Symbol" charset="0"/>
                <a:cs typeface="+mn-cs"/>
              </a:rPr>
              <a:t>l</a:t>
            </a:r>
            <a:r>
              <a:rPr lang="en-CA" sz="2100" dirty="0">
                <a:cs typeface="+mn-cs"/>
              </a:rPr>
              <a:t>  </a:t>
            </a:r>
            <a:r>
              <a:rPr lang="en-CA" sz="2100" dirty="0" smtClean="0">
                <a:cs typeface="+mn-cs"/>
              </a:rPr>
              <a:t>(calls/second) </a:t>
            </a:r>
            <a:r>
              <a:rPr lang="en-CA" sz="2100" dirty="0">
                <a:cs typeface="+mn-cs"/>
              </a:rPr>
              <a:t>* E(</a:t>
            </a:r>
            <a:r>
              <a:rPr lang="en-CA" sz="2100" i="1" dirty="0">
                <a:cs typeface="+mn-cs"/>
              </a:rPr>
              <a:t>X</a:t>
            </a:r>
            <a:r>
              <a:rPr lang="en-CA" sz="2100" dirty="0">
                <a:cs typeface="+mn-cs"/>
              </a:rPr>
              <a:t>) </a:t>
            </a:r>
            <a:r>
              <a:rPr lang="en-CA" sz="2100" dirty="0" smtClean="0">
                <a:cs typeface="+mn-cs"/>
              </a:rPr>
              <a:t>(seconds</a:t>
            </a:r>
            <a:r>
              <a:rPr lang="en-CA" sz="2100" dirty="0">
                <a:cs typeface="+mn-cs"/>
              </a:rPr>
              <a:t>/</a:t>
            </a:r>
            <a:r>
              <a:rPr lang="en-CA" sz="2100" dirty="0" smtClean="0">
                <a:cs typeface="+mn-cs"/>
              </a:rPr>
              <a:t>call)</a:t>
            </a: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000" dirty="0"/>
              <a:t> 𝞺</a:t>
            </a:r>
            <a:r>
              <a:rPr lang="en-CA" sz="2100" dirty="0"/>
              <a:t> = </a:t>
            </a:r>
            <a:r>
              <a:rPr lang="en-CA" sz="2100" dirty="0">
                <a:latin typeface="Symbol" charset="0"/>
              </a:rPr>
              <a:t>l</a:t>
            </a:r>
            <a:r>
              <a:rPr lang="en-CA" sz="2100" dirty="0"/>
              <a:t> </a:t>
            </a:r>
            <a:r>
              <a:rPr lang="en-CA" sz="2100" dirty="0" smtClean="0"/>
              <a:t>/𝝁</a:t>
            </a:r>
            <a:endParaRPr lang="en-CA" sz="2100" dirty="0" smtClean="0">
              <a:cs typeface="+mn-cs"/>
            </a:endParaRP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endParaRPr lang="en-CA" sz="2100" dirty="0" smtClean="0">
              <a:cs typeface="+mn-cs"/>
            </a:endParaRPr>
          </a:p>
          <a:p>
            <a:pPr marL="800100" lvl="1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endParaRPr lang="en-US" sz="2100" dirty="0">
              <a:cs typeface="+mn-cs"/>
            </a:endParaRPr>
          </a:p>
        </p:txBody>
      </p:sp>
      <p:grpSp>
        <p:nvGrpSpPr>
          <p:cNvPr id="148484" name="Group 14"/>
          <p:cNvGrpSpPr>
            <a:grpSpLocks/>
          </p:cNvGrpSpPr>
          <p:nvPr/>
        </p:nvGrpSpPr>
        <p:grpSpPr bwMode="auto">
          <a:xfrm>
            <a:off x="4175125" y="3027362"/>
            <a:ext cx="1247775" cy="701675"/>
            <a:chOff x="4818" y="2953"/>
            <a:chExt cx="338" cy="442"/>
          </a:xfrm>
        </p:grpSpPr>
        <p:sp>
          <p:nvSpPr>
            <p:cNvPr id="1246223" name="Text Box 15"/>
            <p:cNvSpPr txBox="1">
              <a:spLocks noChangeArrowheads="1"/>
            </p:cNvSpPr>
            <p:nvPr/>
          </p:nvSpPr>
          <p:spPr bwMode="auto">
            <a:xfrm>
              <a:off x="4818" y="2953"/>
              <a:ext cx="33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sz="2000" i="1" dirty="0">
                  <a:cs typeface="Arial" charset="0"/>
                </a:rPr>
                <a:t>(</a:t>
              </a:r>
              <a:r>
                <a:rPr lang="el-GR" sz="2000" i="1" dirty="0">
                  <a:cs typeface="Arial" charset="0"/>
                </a:rPr>
                <a:t>λ</a:t>
              </a:r>
              <a:r>
                <a:rPr lang="en-US" sz="2000" i="1" dirty="0">
                  <a:cs typeface="Arial" charset="0"/>
                </a:rPr>
                <a:t>T)</a:t>
              </a:r>
              <a:r>
                <a:rPr lang="en-US" sz="2000" i="1" baseline="30000" dirty="0" err="1">
                  <a:cs typeface="Arial" charset="0"/>
                </a:rPr>
                <a:t>k</a:t>
              </a:r>
              <a:r>
                <a:rPr lang="en-US" sz="2000" i="1" dirty="0" err="1">
                  <a:cs typeface="Arial" charset="0"/>
                </a:rPr>
                <a:t>e</a:t>
              </a:r>
              <a:r>
                <a:rPr lang="en-US" sz="2000" i="1" baseline="30000" dirty="0">
                  <a:cs typeface="Arial" charset="0"/>
                </a:rPr>
                <a:t>–</a:t>
              </a:r>
              <a:r>
                <a:rPr lang="el-GR" sz="2000" i="1" baseline="30000" dirty="0">
                  <a:cs typeface="Arial" charset="0"/>
                </a:rPr>
                <a:t>λ</a:t>
              </a:r>
              <a:r>
                <a:rPr lang="en-US" sz="2000" i="1" baseline="30000" dirty="0">
                  <a:cs typeface="Arial" charset="0"/>
                </a:rPr>
                <a:t>T</a:t>
              </a:r>
              <a:r>
                <a:rPr lang="en-US" sz="2000" i="1" dirty="0">
                  <a:cs typeface="Arial" charset="0"/>
                </a:rPr>
                <a:t>    </a:t>
              </a:r>
              <a:r>
                <a:rPr lang="en-US" sz="2000" i="1" dirty="0" smtClean="0">
                  <a:cs typeface="Arial" charset="0"/>
                </a:rPr>
                <a:t>       k</a:t>
              </a:r>
              <a:r>
                <a:rPr lang="en-US" sz="2000" i="1" dirty="0">
                  <a:cs typeface="Arial" charset="0"/>
                </a:rPr>
                <a:t>!</a:t>
              </a:r>
              <a:endParaRPr lang="en-US" sz="2000" i="1" dirty="0">
                <a:cs typeface="+mn-cs"/>
                <a:sym typeface="Symbol" charset="0"/>
              </a:endParaRPr>
            </a:p>
          </p:txBody>
        </p:sp>
        <p:sp>
          <p:nvSpPr>
            <p:cNvPr id="1246224" name="Line 16"/>
            <p:cNvSpPr>
              <a:spLocks noChangeShapeType="1"/>
            </p:cNvSpPr>
            <p:nvPr/>
          </p:nvSpPr>
          <p:spPr bwMode="auto">
            <a:xfrm>
              <a:off x="4878" y="3177"/>
              <a:ext cx="21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246236" name="Text Box 28"/>
          <p:cNvSpPr txBox="1">
            <a:spLocks noChangeArrowheads="1"/>
          </p:cNvSpPr>
          <p:nvPr/>
        </p:nvSpPr>
        <p:spPr bwMode="auto">
          <a:xfrm>
            <a:off x="1085850" y="3178175"/>
            <a:ext cx="308927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100">
                <a:cs typeface="+mn-cs"/>
              </a:rPr>
              <a:t>Prob(</a:t>
            </a:r>
            <a:r>
              <a:rPr lang="en-US" sz="2100" i="1">
                <a:cs typeface="+mn-cs"/>
              </a:rPr>
              <a:t>k</a:t>
            </a:r>
            <a:r>
              <a:rPr lang="en-US" sz="2100">
                <a:cs typeface="+mn-cs"/>
              </a:rPr>
              <a:t> arrivals in time </a:t>
            </a:r>
            <a:r>
              <a:rPr lang="en-US" sz="2100" i="1">
                <a:cs typeface="+mn-cs"/>
              </a:rPr>
              <a:t>T</a:t>
            </a:r>
            <a:r>
              <a:rPr lang="en-US" sz="2100">
                <a:cs typeface="+mn-cs"/>
              </a:rPr>
              <a:t>) = </a:t>
            </a:r>
          </a:p>
        </p:txBody>
      </p:sp>
    </p:spTree>
    <p:extLst>
      <p:ext uri="{BB962C8B-B14F-4D97-AF65-F5344CB8AC3E}">
        <p14:creationId xmlns:p14="http://schemas.microsoft.com/office/powerpoint/2010/main" val="5831440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3500" smtClean="0">
                <a:cs typeface="+mj-cs"/>
              </a:rPr>
              <a:t>Blocking Probability &amp; Utilization</a:t>
            </a:r>
            <a:endParaRPr lang="en-US" sz="3500" smtClean="0">
              <a:cs typeface="+mj-cs"/>
            </a:endParaRPr>
          </a:p>
        </p:txBody>
      </p:sp>
      <p:sp>
        <p:nvSpPr>
          <p:cNvPr id="124723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76250" y="1343025"/>
            <a:ext cx="8382000" cy="1854200"/>
          </a:xfrm>
        </p:spPr>
        <p:txBody>
          <a:bodyPr/>
          <a:lstStyle/>
          <a:p>
            <a:pPr eaLnBrk="1" hangingPunct="1">
              <a:defRPr/>
            </a:pPr>
            <a:r>
              <a:rPr lang="en-CA" sz="2600" i="1" dirty="0" smtClean="0">
                <a:cs typeface="+mn-cs"/>
              </a:rPr>
              <a:t>c</a:t>
            </a:r>
            <a:r>
              <a:rPr lang="en-CA" sz="2600" dirty="0" smtClean="0">
                <a:cs typeface="+mn-cs"/>
              </a:rPr>
              <a:t> = Number of </a:t>
            </a:r>
            <a:r>
              <a:rPr lang="en-CA" sz="2600" dirty="0" smtClean="0">
                <a:cs typeface="+mn-cs"/>
              </a:rPr>
              <a:t>Trunks or channels</a:t>
            </a:r>
            <a:endParaRPr lang="en-CA" sz="2600" dirty="0" smtClean="0">
              <a:cs typeface="+mn-cs"/>
            </a:endParaRPr>
          </a:p>
          <a:p>
            <a:pPr eaLnBrk="1" hangingPunct="1">
              <a:defRPr/>
            </a:pPr>
            <a:r>
              <a:rPr lang="en-CA" sz="2600" dirty="0" smtClean="0">
                <a:cs typeface="+mn-cs"/>
              </a:rPr>
              <a:t>Blocking occurs if all </a:t>
            </a:r>
            <a:r>
              <a:rPr lang="en-CA" sz="2600" dirty="0" smtClean="0">
                <a:cs typeface="+mn-cs"/>
              </a:rPr>
              <a:t>channels </a:t>
            </a:r>
            <a:r>
              <a:rPr lang="en-CA" sz="2600" dirty="0" smtClean="0">
                <a:cs typeface="+mn-cs"/>
              </a:rPr>
              <a:t>are busy, i.e. </a:t>
            </a:r>
            <a:r>
              <a:rPr lang="en-CA" sz="2600" i="1" dirty="0" smtClean="0">
                <a:cs typeface="+mn-cs"/>
              </a:rPr>
              <a:t>N(t)=c</a:t>
            </a:r>
          </a:p>
          <a:p>
            <a:pPr eaLnBrk="1" hangingPunct="1">
              <a:defRPr/>
            </a:pPr>
            <a:r>
              <a:rPr lang="en-CA" sz="2600" dirty="0" smtClean="0">
                <a:cs typeface="+mn-cs"/>
              </a:rPr>
              <a:t>If call requests are Poisson, then blocking probability </a:t>
            </a:r>
            <a:r>
              <a:rPr lang="en-CA" sz="2600" i="1" dirty="0" err="1" smtClean="0">
                <a:cs typeface="+mn-cs"/>
              </a:rPr>
              <a:t>P</a:t>
            </a:r>
            <a:r>
              <a:rPr lang="en-CA" sz="2600" i="1" baseline="-25000" dirty="0" err="1" smtClean="0">
                <a:cs typeface="+mn-cs"/>
              </a:rPr>
              <a:t>b</a:t>
            </a:r>
            <a:r>
              <a:rPr lang="en-CA" sz="2600" dirty="0" smtClean="0">
                <a:cs typeface="+mn-cs"/>
              </a:rPr>
              <a:t> is given by </a:t>
            </a:r>
            <a:r>
              <a:rPr lang="en-CA" sz="2600" b="1" i="1" dirty="0" err="1" smtClean="0">
                <a:solidFill>
                  <a:schemeClr val="tx2"/>
                </a:solidFill>
                <a:cs typeface="+mn-cs"/>
              </a:rPr>
              <a:t>Erlang</a:t>
            </a:r>
            <a:r>
              <a:rPr lang="en-CA" sz="2600" b="1" i="1" dirty="0" smtClean="0">
                <a:solidFill>
                  <a:schemeClr val="tx2"/>
                </a:solidFill>
                <a:cs typeface="+mn-cs"/>
              </a:rPr>
              <a:t> B Formula</a:t>
            </a:r>
            <a:endParaRPr lang="en-US" sz="2600" b="1" i="1" dirty="0" smtClean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47239" name="Rectangle 7"/>
          <p:cNvSpPr>
            <a:spLocks noChangeArrowheads="1"/>
          </p:cNvSpPr>
          <p:nvPr/>
        </p:nvSpPr>
        <p:spPr bwMode="auto">
          <a:xfrm>
            <a:off x="419100" y="4860925"/>
            <a:ext cx="82296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  <a:defRPr/>
            </a:pPr>
            <a:r>
              <a:rPr lang="en-CA" sz="2600" dirty="0">
                <a:cs typeface="+mn-cs"/>
              </a:rPr>
              <a:t>The </a:t>
            </a:r>
            <a:r>
              <a:rPr lang="en-CA" sz="2600" i="1" dirty="0">
                <a:cs typeface="+mn-cs"/>
              </a:rPr>
              <a:t>utilization </a:t>
            </a:r>
            <a:r>
              <a:rPr lang="en-CA" sz="2600" dirty="0">
                <a:cs typeface="+mn-cs"/>
              </a:rPr>
              <a:t>is the average # of </a:t>
            </a:r>
            <a:r>
              <a:rPr lang="en-CA" sz="2600" dirty="0" smtClean="0">
                <a:cs typeface="+mn-cs"/>
              </a:rPr>
              <a:t>channels </a:t>
            </a:r>
            <a:r>
              <a:rPr lang="en-CA" sz="2600" dirty="0">
                <a:cs typeface="+mn-cs"/>
              </a:rPr>
              <a:t>in use</a:t>
            </a:r>
          </a:p>
        </p:txBody>
      </p:sp>
      <p:grpSp>
        <p:nvGrpSpPr>
          <p:cNvPr id="149508" name="Group 47"/>
          <p:cNvGrpSpPr>
            <a:grpSpLocks/>
          </p:cNvGrpSpPr>
          <p:nvPr/>
        </p:nvGrpSpPr>
        <p:grpSpPr bwMode="auto">
          <a:xfrm>
            <a:off x="3387725" y="3043238"/>
            <a:ext cx="2225675" cy="1725612"/>
            <a:chOff x="2254" y="2029"/>
            <a:chExt cx="1402" cy="1087"/>
          </a:xfrm>
        </p:grpSpPr>
        <p:sp>
          <p:nvSpPr>
            <p:cNvPr id="1247245" name="Rectangle 13"/>
            <p:cNvSpPr>
              <a:spLocks noChangeArrowheads="1"/>
            </p:cNvSpPr>
            <p:nvPr/>
          </p:nvSpPr>
          <p:spPr bwMode="auto">
            <a:xfrm>
              <a:off x="2254" y="2388"/>
              <a:ext cx="1258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2800" i="1">
                  <a:cs typeface="Arial" charset="0"/>
                </a:rPr>
                <a:t>P</a:t>
              </a:r>
              <a:r>
                <a:rPr lang="en-US" sz="2800" i="1" baseline="-25000">
                  <a:cs typeface="+mn-cs"/>
                </a:rPr>
                <a:t>b</a:t>
              </a:r>
              <a:r>
                <a:rPr lang="en-US" sz="2800" i="1">
                  <a:cs typeface="+mn-cs"/>
                </a:rPr>
                <a:t> = </a:t>
              </a:r>
              <a:endParaRPr lang="en-US" sz="2800">
                <a:cs typeface="+mn-cs"/>
              </a:endParaRPr>
            </a:p>
          </p:txBody>
        </p:sp>
        <p:grpSp>
          <p:nvGrpSpPr>
            <p:cNvPr id="149512" name="Group 42"/>
            <p:cNvGrpSpPr>
              <a:grpSpLocks/>
            </p:cNvGrpSpPr>
            <p:nvPr/>
          </p:nvGrpSpPr>
          <p:grpSpPr bwMode="auto">
            <a:xfrm>
              <a:off x="2916" y="2029"/>
              <a:ext cx="608" cy="487"/>
              <a:chOff x="2916" y="2029"/>
              <a:chExt cx="608" cy="487"/>
            </a:xfrm>
          </p:grpSpPr>
          <p:sp>
            <p:nvSpPr>
              <p:cNvPr id="1247250" name="Text Box 18"/>
              <p:cNvSpPr txBox="1">
                <a:spLocks noChangeArrowheads="1"/>
              </p:cNvSpPr>
              <p:nvPr/>
            </p:nvSpPr>
            <p:spPr bwMode="auto">
              <a:xfrm>
                <a:off x="2916" y="2029"/>
                <a:ext cx="37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sz="2800" i="1" dirty="0">
                    <a:latin typeface="Times New Roman" charset="0"/>
                  </a:rPr>
                  <a:t>𝝆</a:t>
                </a:r>
                <a:r>
                  <a:rPr lang="en-US" sz="2800" i="1" baseline="30000" dirty="0" smtClean="0">
                    <a:latin typeface="Times New Roman" charset="0"/>
                    <a:cs typeface="+mn-cs"/>
                  </a:rPr>
                  <a:t>c</a:t>
                </a:r>
                <a:endParaRPr lang="en-US" sz="3200" i="1" dirty="0">
                  <a:cs typeface="+mn-cs"/>
                  <a:sym typeface="Symbol" charset="0"/>
                </a:endParaRPr>
              </a:p>
            </p:txBody>
          </p:sp>
          <p:sp>
            <p:nvSpPr>
              <p:cNvPr id="1247251" name="Line 19"/>
              <p:cNvSpPr>
                <a:spLocks noChangeShapeType="1"/>
              </p:cNvSpPr>
              <p:nvPr/>
            </p:nvSpPr>
            <p:spPr bwMode="auto">
              <a:xfrm flipV="1">
                <a:off x="3060" y="2149"/>
                <a:ext cx="243" cy="3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247267" name="Text Box 35"/>
              <p:cNvSpPr txBox="1">
                <a:spLocks noChangeArrowheads="1"/>
              </p:cNvSpPr>
              <p:nvPr/>
            </p:nvSpPr>
            <p:spPr bwMode="auto">
              <a:xfrm>
                <a:off x="3188" y="2189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  <a:defRPr/>
                </a:pPr>
                <a:r>
                  <a:rPr lang="en-US" sz="2800" i="1" dirty="0">
                    <a:cs typeface="+mn-cs"/>
                  </a:rPr>
                  <a:t>c!</a:t>
                </a:r>
                <a:endParaRPr lang="en-US" sz="3200" i="1" dirty="0">
                  <a:cs typeface="+mn-cs"/>
                  <a:sym typeface="Symbol" charset="0"/>
                </a:endParaRPr>
              </a:p>
            </p:txBody>
          </p:sp>
        </p:grpSp>
        <p:grpSp>
          <p:nvGrpSpPr>
            <p:cNvPr id="149513" name="Group 44"/>
            <p:cNvGrpSpPr>
              <a:grpSpLocks/>
            </p:cNvGrpSpPr>
            <p:nvPr/>
          </p:nvGrpSpPr>
          <p:grpSpPr bwMode="auto">
            <a:xfrm>
              <a:off x="2737" y="2568"/>
              <a:ext cx="915" cy="548"/>
              <a:chOff x="2849" y="2568"/>
              <a:chExt cx="915" cy="548"/>
            </a:xfrm>
          </p:grpSpPr>
          <p:sp>
            <p:nvSpPr>
              <p:cNvPr id="1247247" name="Text Box 15"/>
              <p:cNvSpPr txBox="1">
                <a:spLocks noChangeArrowheads="1"/>
              </p:cNvSpPr>
              <p:nvPr/>
            </p:nvSpPr>
            <p:spPr bwMode="auto">
              <a:xfrm>
                <a:off x="3426" y="2750"/>
                <a:ext cx="33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 smtClean="0">
                    <a:cs typeface="Arial" charset="0"/>
                  </a:rPr>
                  <a:t>j!</a:t>
                </a:r>
                <a:endParaRPr lang="en-US" sz="2800" i="1" dirty="0">
                  <a:cs typeface="+mn-cs"/>
                  <a:sym typeface="Symbol" charset="0"/>
                </a:endParaRPr>
              </a:p>
            </p:txBody>
          </p:sp>
          <p:grpSp>
            <p:nvGrpSpPr>
              <p:cNvPr id="149516" name="Group 43"/>
              <p:cNvGrpSpPr>
                <a:grpSpLocks/>
              </p:cNvGrpSpPr>
              <p:nvPr/>
            </p:nvGrpSpPr>
            <p:grpSpPr bwMode="auto">
              <a:xfrm>
                <a:off x="2849" y="2568"/>
                <a:ext cx="627" cy="548"/>
                <a:chOff x="2849" y="2568"/>
                <a:chExt cx="627" cy="548"/>
              </a:xfrm>
            </p:grpSpPr>
            <p:sp>
              <p:nvSpPr>
                <p:cNvPr id="1247262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888" y="2640"/>
                  <a:ext cx="588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2400" dirty="0">
                      <a:cs typeface="Arial" charset="0"/>
                    </a:rPr>
                    <a:t>∑ </a:t>
                  </a:r>
                  <a:r>
                    <a:rPr lang="en-US" sz="2800" i="1" dirty="0">
                      <a:latin typeface="Times New Roman" charset="0"/>
                      <a:cs typeface="Arial" charset="0"/>
                    </a:rPr>
                    <a:t>𝝆</a:t>
                  </a:r>
                  <a:r>
                    <a:rPr lang="en-US" sz="2000" i="1" baseline="30000" dirty="0" smtClean="0">
                      <a:cs typeface="Arial" charset="0"/>
                    </a:rPr>
                    <a:t>k</a:t>
                  </a:r>
                  <a:endParaRPr lang="en-US" sz="2000" i="1" baseline="30000" dirty="0">
                    <a:cs typeface="Arial" charset="0"/>
                  </a:endParaRPr>
                </a:p>
              </p:txBody>
            </p:sp>
            <p:sp>
              <p:nvSpPr>
                <p:cNvPr id="124726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849" y="2904"/>
                  <a:ext cx="34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1600" i="1" dirty="0" smtClean="0">
                      <a:cs typeface="+mn-cs"/>
                    </a:rPr>
                    <a:t>j</a:t>
                  </a:r>
                  <a:r>
                    <a:rPr lang="en-US" sz="1600" dirty="0" smtClean="0">
                      <a:cs typeface="+mn-cs"/>
                    </a:rPr>
                    <a:t>=</a:t>
                  </a:r>
                  <a:r>
                    <a:rPr lang="en-US" sz="1600" dirty="0">
                      <a:cs typeface="+mn-cs"/>
                    </a:rPr>
                    <a:t>0</a:t>
                  </a:r>
                </a:p>
              </p:txBody>
            </p:sp>
            <p:sp>
              <p:nvSpPr>
                <p:cNvPr id="124726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885" y="2568"/>
                  <a:ext cx="347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1600" i="1">
                      <a:cs typeface="+mn-cs"/>
                    </a:rPr>
                    <a:t>c</a:t>
                  </a:r>
                  <a:endParaRPr lang="en-US" sz="1600">
                    <a:cs typeface="+mn-cs"/>
                  </a:endParaRPr>
                </a:p>
              </p:txBody>
            </p:sp>
          </p:grpSp>
          <p:sp>
            <p:nvSpPr>
              <p:cNvPr id="1247273" name="Line 41"/>
              <p:cNvSpPr>
                <a:spLocks noChangeShapeType="1"/>
              </p:cNvSpPr>
              <p:nvPr/>
            </p:nvSpPr>
            <p:spPr bwMode="auto">
              <a:xfrm flipV="1">
                <a:off x="3300" y="2765"/>
                <a:ext cx="243" cy="3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sp>
          <p:nvSpPr>
            <p:cNvPr id="1247277" name="Line 45"/>
            <p:cNvSpPr>
              <a:spLocks noChangeShapeType="1"/>
            </p:cNvSpPr>
            <p:nvPr/>
          </p:nvSpPr>
          <p:spPr bwMode="auto">
            <a:xfrm>
              <a:off x="2904" y="2584"/>
              <a:ext cx="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247280" name="Text Box 48"/>
          <p:cNvSpPr txBox="1">
            <a:spLocks noChangeArrowheads="1"/>
          </p:cNvSpPr>
          <p:nvPr/>
        </p:nvSpPr>
        <p:spPr bwMode="auto">
          <a:xfrm>
            <a:off x="8442325" y="5599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47282" name="Text Box 50"/>
          <p:cNvSpPr txBox="1">
            <a:spLocks noChangeArrowheads="1"/>
          </p:cNvSpPr>
          <p:nvPr/>
        </p:nvSpPr>
        <p:spPr bwMode="auto">
          <a:xfrm>
            <a:off x="1206500" y="5495925"/>
            <a:ext cx="703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800" dirty="0">
                <a:cs typeface="Arial" charset="0"/>
              </a:rPr>
              <a:t>Utilization =</a:t>
            </a:r>
            <a:r>
              <a:rPr lang="en-US" sz="2800" i="1" dirty="0">
                <a:cs typeface="Arial" charset="0"/>
              </a:rPr>
              <a:t> </a:t>
            </a:r>
            <a:r>
              <a:rPr lang="el-GR" sz="2800" i="1" dirty="0">
                <a:cs typeface="Arial" charset="0"/>
              </a:rPr>
              <a:t>λ</a:t>
            </a:r>
            <a:r>
              <a:rPr lang="en-US" sz="2800" dirty="0">
                <a:cs typeface="Arial" charset="0"/>
              </a:rPr>
              <a:t>(1 – </a:t>
            </a:r>
            <a:r>
              <a:rPr lang="en-US" sz="2800" i="1" dirty="0" err="1">
                <a:cs typeface="Arial" charset="0"/>
              </a:rPr>
              <a:t>P</a:t>
            </a:r>
            <a:r>
              <a:rPr lang="en-US" sz="2800" i="1" baseline="-25000" dirty="0" err="1">
                <a:cs typeface="Arial" charset="0"/>
              </a:rPr>
              <a:t>b</a:t>
            </a:r>
            <a:r>
              <a:rPr lang="en-US" sz="2800" dirty="0">
                <a:cs typeface="Arial" charset="0"/>
              </a:rPr>
              <a:t>) </a:t>
            </a:r>
            <a:r>
              <a:rPr lang="en-US" sz="2800" i="1" dirty="0">
                <a:cs typeface="Arial" charset="0"/>
              </a:rPr>
              <a:t>E</a:t>
            </a:r>
            <a:r>
              <a:rPr lang="en-US" sz="2800" dirty="0">
                <a:cs typeface="Arial" charset="0"/>
              </a:rPr>
              <a:t>[</a:t>
            </a:r>
            <a:r>
              <a:rPr lang="en-US" sz="2800" i="1" dirty="0">
                <a:cs typeface="Arial" charset="0"/>
              </a:rPr>
              <a:t>X</a:t>
            </a:r>
            <a:r>
              <a:rPr lang="en-US" sz="2800" dirty="0">
                <a:cs typeface="Arial" charset="0"/>
              </a:rPr>
              <a:t>]/</a:t>
            </a:r>
            <a:r>
              <a:rPr lang="en-US" sz="2800" i="1" dirty="0">
                <a:cs typeface="Arial" charset="0"/>
              </a:rPr>
              <a:t>c</a:t>
            </a:r>
            <a:r>
              <a:rPr lang="en-US" sz="2800" dirty="0">
                <a:cs typeface="Arial" charset="0"/>
              </a:rPr>
              <a:t> = (1 –</a:t>
            </a:r>
            <a:r>
              <a:rPr lang="en-US" sz="2800" i="1" dirty="0">
                <a:cs typeface="Arial" charset="0"/>
              </a:rPr>
              <a:t> </a:t>
            </a:r>
            <a:r>
              <a:rPr lang="en-US" sz="2800" i="1" dirty="0" err="1">
                <a:cs typeface="Arial" charset="0"/>
              </a:rPr>
              <a:t>P</a:t>
            </a:r>
            <a:r>
              <a:rPr lang="en-US" sz="2800" i="1" baseline="-25000" dirty="0" err="1">
                <a:cs typeface="Arial" charset="0"/>
              </a:rPr>
              <a:t>b</a:t>
            </a:r>
            <a:r>
              <a:rPr lang="en-US" sz="2800" i="1" dirty="0">
                <a:cs typeface="Arial" charset="0"/>
              </a:rPr>
              <a:t>) </a:t>
            </a:r>
            <a:r>
              <a:rPr lang="en-US" sz="3200" i="1" dirty="0" smtClean="0">
                <a:latin typeface="Times New Roman" charset="0"/>
                <a:cs typeface="Arial" charset="0"/>
              </a:rPr>
              <a:t>𝝆</a:t>
            </a:r>
            <a:r>
              <a:rPr lang="en-US" sz="2800" i="1" dirty="0" smtClean="0">
                <a:cs typeface="Arial" charset="0"/>
              </a:rPr>
              <a:t>/</a:t>
            </a:r>
            <a:r>
              <a:rPr lang="en-US" sz="2800" i="1" dirty="0">
                <a:cs typeface="Arial" charset="0"/>
              </a:rPr>
              <a:t>c</a:t>
            </a:r>
            <a:endParaRPr lang="en-US" sz="2800" i="1" dirty="0">
              <a:cs typeface="+mn-cs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29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3500" smtClean="0">
                <a:cs typeface="+mj-cs"/>
              </a:rPr>
              <a:t>Blocking Probability &amp; Utilization</a:t>
            </a:r>
            <a:endParaRPr lang="en-US" sz="3500" smtClean="0">
              <a:cs typeface="+mj-cs"/>
            </a:endParaRPr>
          </a:p>
        </p:txBody>
      </p:sp>
      <p:sp>
        <p:nvSpPr>
          <p:cNvPr id="124723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76250" y="1343025"/>
            <a:ext cx="8382000" cy="625475"/>
          </a:xfrm>
        </p:spPr>
        <p:txBody>
          <a:bodyPr/>
          <a:lstStyle/>
          <a:p>
            <a:pPr eaLnBrk="1" hangingPunct="1">
              <a:defRPr/>
            </a:pPr>
            <a:r>
              <a:rPr lang="en-CA" sz="2600" b="1" i="1" dirty="0" err="1" smtClean="0">
                <a:solidFill>
                  <a:schemeClr val="tx2"/>
                </a:solidFill>
                <a:cs typeface="+mn-cs"/>
              </a:rPr>
              <a:t>Erlang</a:t>
            </a:r>
            <a:r>
              <a:rPr lang="en-CA" sz="2600" b="1" i="1" dirty="0" smtClean="0">
                <a:solidFill>
                  <a:schemeClr val="tx2"/>
                </a:solidFill>
                <a:cs typeface="+mn-cs"/>
              </a:rPr>
              <a:t> </a:t>
            </a:r>
            <a:r>
              <a:rPr lang="en-CA" sz="2600" b="1" i="1" dirty="0" smtClean="0">
                <a:solidFill>
                  <a:schemeClr val="tx2"/>
                </a:solidFill>
                <a:cs typeface="+mn-cs"/>
              </a:rPr>
              <a:t>B </a:t>
            </a:r>
            <a:r>
              <a:rPr lang="en-CA" sz="2600" b="1" i="1" dirty="0" smtClean="0">
                <a:solidFill>
                  <a:schemeClr val="tx2"/>
                </a:solidFill>
                <a:cs typeface="+mn-cs"/>
              </a:rPr>
              <a:t>Formula can be written recursively as follows:</a:t>
            </a:r>
            <a:endParaRPr lang="en-US" sz="2600" b="1" i="1" dirty="0" smtClean="0">
              <a:solidFill>
                <a:schemeClr val="tx2"/>
              </a:solidFill>
              <a:cs typeface="+mn-cs"/>
            </a:endParaRPr>
          </a:p>
        </p:txBody>
      </p:sp>
      <p:grpSp>
        <p:nvGrpSpPr>
          <p:cNvPr id="149508" name="Group 47"/>
          <p:cNvGrpSpPr>
            <a:grpSpLocks/>
          </p:cNvGrpSpPr>
          <p:nvPr/>
        </p:nvGrpSpPr>
        <p:grpSpPr bwMode="auto">
          <a:xfrm>
            <a:off x="2489520" y="2255840"/>
            <a:ext cx="4957076" cy="1262063"/>
            <a:chOff x="2495" y="2194"/>
            <a:chExt cx="1258" cy="795"/>
          </a:xfrm>
        </p:grpSpPr>
        <p:sp>
          <p:nvSpPr>
            <p:cNvPr id="1247245" name="Rectangle 13"/>
            <p:cNvSpPr>
              <a:spLocks noChangeArrowheads="1"/>
            </p:cNvSpPr>
            <p:nvPr/>
          </p:nvSpPr>
          <p:spPr bwMode="auto">
            <a:xfrm>
              <a:off x="2495" y="2388"/>
              <a:ext cx="1258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2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>
                <a:defRPr/>
              </a:pPr>
              <a:r>
                <a:rPr lang="en-US" sz="2800" i="1" dirty="0" err="1" smtClean="0">
                  <a:cs typeface="Arial" charset="0"/>
                </a:rPr>
                <a:t>P</a:t>
              </a:r>
              <a:r>
                <a:rPr lang="en-US" sz="2800" i="1" baseline="-25000" dirty="0" err="1" smtClean="0">
                  <a:cs typeface="+mn-cs"/>
                </a:rPr>
                <a:t>b</a:t>
              </a:r>
              <a:r>
                <a:rPr lang="en-US" sz="2800" i="1" dirty="0" smtClean="0"/>
                <a:t>(c,𝝆)</a:t>
              </a:r>
              <a:r>
                <a:rPr lang="en-US" sz="2800" i="1" dirty="0" smtClean="0">
                  <a:cs typeface="+mn-cs"/>
                </a:rPr>
                <a:t> </a:t>
              </a:r>
              <a:r>
                <a:rPr lang="en-US" sz="2800" i="1" dirty="0">
                  <a:cs typeface="+mn-cs"/>
                </a:rPr>
                <a:t>= </a:t>
              </a:r>
              <a:endParaRPr lang="en-US" sz="2800" dirty="0">
                <a:cs typeface="+mn-cs"/>
              </a:endParaRPr>
            </a:p>
          </p:txBody>
        </p:sp>
        <p:sp>
          <p:nvSpPr>
            <p:cNvPr id="1247250" name="Text Box 18"/>
            <p:cNvSpPr txBox="1">
              <a:spLocks noChangeArrowheads="1"/>
            </p:cNvSpPr>
            <p:nvPr/>
          </p:nvSpPr>
          <p:spPr bwMode="auto">
            <a:xfrm>
              <a:off x="3000" y="2194"/>
              <a:ext cx="753" cy="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i="1" dirty="0" smtClean="0">
                  <a:latin typeface="Times New Roman" charset="0"/>
                </a:rPr>
                <a:t>𝝆 </a:t>
              </a:r>
              <a:r>
                <a:rPr lang="en-US" sz="2800" i="1" dirty="0" err="1" smtClean="0">
                  <a:cs typeface="Arial" charset="0"/>
                </a:rPr>
                <a:t>P</a:t>
              </a:r>
              <a:r>
                <a:rPr lang="en-US" sz="2800" i="1" baseline="-25000" dirty="0" err="1" smtClean="0"/>
                <a:t>b</a:t>
              </a:r>
              <a:r>
                <a:rPr lang="en-US" sz="2800" i="1" dirty="0"/>
                <a:t>(</a:t>
              </a:r>
              <a:r>
                <a:rPr lang="en-US" sz="2800" i="1" dirty="0" smtClean="0"/>
                <a:t>c-1,</a:t>
              </a:r>
              <a:r>
                <a:rPr lang="en-US" sz="2800" i="1" dirty="0"/>
                <a:t>𝝆) </a:t>
              </a:r>
              <a:r>
                <a:rPr lang="en-US" sz="2800" i="1" baseline="30000" dirty="0" smtClean="0">
                  <a:latin typeface="Times New Roman" charset="0"/>
                </a:rPr>
                <a:t> 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sz="3200" i="1" dirty="0" smtClean="0">
                  <a:latin typeface="Times New Roman" charset="0"/>
                </a:rPr>
                <a:t>C +𝝆 </a:t>
              </a:r>
              <a:r>
                <a:rPr lang="en-US" sz="3200" i="1" dirty="0" err="1">
                  <a:cs typeface="Arial" charset="0"/>
                </a:rPr>
                <a:t>P</a:t>
              </a:r>
              <a:r>
                <a:rPr lang="en-US" sz="3200" i="1" baseline="-25000" dirty="0" err="1"/>
                <a:t>b</a:t>
              </a:r>
              <a:r>
                <a:rPr lang="en-US" sz="3200" i="1" dirty="0"/>
                <a:t>(c-1,𝝆) </a:t>
              </a:r>
              <a:r>
                <a:rPr lang="en-US" sz="3200" i="1" baseline="30000" dirty="0">
                  <a:latin typeface="Times New Roman" charset="0"/>
                </a:rPr>
                <a:t> </a:t>
              </a:r>
            </a:p>
          </p:txBody>
        </p:sp>
        <p:sp>
          <p:nvSpPr>
            <p:cNvPr id="1247277" name="Line 45"/>
            <p:cNvSpPr>
              <a:spLocks noChangeShapeType="1"/>
            </p:cNvSpPr>
            <p:nvPr/>
          </p:nvSpPr>
          <p:spPr bwMode="auto">
            <a:xfrm>
              <a:off x="2904" y="2584"/>
              <a:ext cx="7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247280" name="Text Box 48"/>
          <p:cNvSpPr txBox="1">
            <a:spLocks noChangeArrowheads="1"/>
          </p:cNvSpPr>
          <p:nvPr/>
        </p:nvSpPr>
        <p:spPr bwMode="auto">
          <a:xfrm>
            <a:off x="8442325" y="5599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98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2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mtClean="0">
                <a:cs typeface="+mj-cs"/>
              </a:rPr>
              <a:t>Blocking Performance</a:t>
            </a:r>
            <a:endParaRPr lang="en-US" smtClean="0">
              <a:cs typeface="+mj-cs"/>
            </a:endParaRPr>
          </a:p>
        </p:txBody>
      </p:sp>
      <p:grpSp>
        <p:nvGrpSpPr>
          <p:cNvPr id="150530" name="Group 313"/>
          <p:cNvGrpSpPr>
            <a:grpSpLocks/>
          </p:cNvGrpSpPr>
          <p:nvPr/>
        </p:nvGrpSpPr>
        <p:grpSpPr bwMode="auto">
          <a:xfrm>
            <a:off x="1314450" y="1423988"/>
            <a:ext cx="5553075" cy="4086225"/>
            <a:chOff x="318" y="939"/>
            <a:chExt cx="3498" cy="2574"/>
          </a:xfrm>
        </p:grpSpPr>
        <p:pic>
          <p:nvPicPr>
            <p:cNvPr id="124825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" y="939"/>
              <a:ext cx="3498" cy="2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248263" name="Text Box 7"/>
            <p:cNvSpPr txBox="1">
              <a:spLocks noChangeArrowheads="1"/>
            </p:cNvSpPr>
            <p:nvPr/>
          </p:nvSpPr>
          <p:spPr bwMode="auto">
            <a:xfrm>
              <a:off x="3170" y="3248"/>
              <a:ext cx="266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bg1"/>
                </a:buClr>
                <a:buSzPct val="70000"/>
                <a:buFont typeface="Wingdings" charset="0"/>
                <a:buChar char="l"/>
                <a:defRPr/>
              </a:pPr>
              <a:r>
                <a:rPr lang="en-US" i="1">
                  <a:latin typeface="Times New Roman" charset="0"/>
                  <a:cs typeface="+mn-cs"/>
                </a:rPr>
                <a:t>a</a:t>
              </a:r>
            </a:p>
          </p:txBody>
        </p:sp>
      </p:grpSp>
      <p:sp>
        <p:nvSpPr>
          <p:cNvPr id="1248262" name="Line 6"/>
          <p:cNvSpPr>
            <a:spLocks noChangeShapeType="1"/>
          </p:cNvSpPr>
          <p:nvPr/>
        </p:nvSpPr>
        <p:spPr bwMode="auto">
          <a:xfrm flipH="1" flipV="1">
            <a:off x="4705350" y="2276475"/>
            <a:ext cx="0" cy="12573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48570" name="Line 314"/>
          <p:cNvSpPr>
            <a:spLocks noChangeShapeType="1"/>
          </p:cNvSpPr>
          <p:nvPr/>
        </p:nvSpPr>
        <p:spPr bwMode="auto">
          <a:xfrm flipH="1" flipV="1">
            <a:off x="6248400" y="2266950"/>
            <a:ext cx="0" cy="1257300"/>
          </a:xfrm>
          <a:prstGeom prst="line">
            <a:avLst/>
          </a:prstGeom>
          <a:noFill/>
          <a:ln w="28575">
            <a:solidFill>
              <a:srgbClr val="99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48571" name="Text Box 315"/>
          <p:cNvSpPr txBox="1">
            <a:spLocks noChangeArrowheads="1"/>
          </p:cNvSpPr>
          <p:nvPr/>
        </p:nvSpPr>
        <p:spPr bwMode="auto">
          <a:xfrm>
            <a:off x="2165350" y="5430838"/>
            <a:ext cx="3505240" cy="1023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None/>
              <a:defRPr/>
            </a:pPr>
            <a:r>
              <a:rPr lang="en-US" dirty="0">
                <a:cs typeface="+mn-cs"/>
              </a:rPr>
              <a:t>To achieve 1% blocking probability: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None/>
              <a:defRPr/>
            </a:pPr>
            <a:r>
              <a:rPr lang="en-US" sz="2000" i="1" dirty="0">
                <a:latin typeface="Times New Roman" charset="0"/>
              </a:rPr>
              <a:t>𝝆</a:t>
            </a:r>
            <a:r>
              <a:rPr lang="en-US" sz="2000" i="1" dirty="0" smtClean="0">
                <a:latin typeface="Times New Roman" charset="0"/>
                <a:cs typeface="+mn-cs"/>
              </a:rPr>
              <a:t> </a:t>
            </a:r>
            <a:r>
              <a:rPr lang="en-US" dirty="0">
                <a:cs typeface="+mn-cs"/>
              </a:rPr>
              <a:t>= 5 </a:t>
            </a:r>
            <a:r>
              <a:rPr lang="en-US" dirty="0" err="1">
                <a:cs typeface="+mn-cs"/>
              </a:rPr>
              <a:t>Erlangs</a:t>
            </a:r>
            <a:r>
              <a:rPr lang="en-US" dirty="0">
                <a:cs typeface="+mn-cs"/>
              </a:rPr>
              <a:t> requires 11 trunks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1"/>
              </a:buClr>
              <a:buSzPct val="70000"/>
              <a:buFont typeface="Wingdings" charset="0"/>
              <a:buNone/>
              <a:defRPr/>
            </a:pPr>
            <a:r>
              <a:rPr lang="en-US" sz="2000" i="1" dirty="0" smtClean="0">
                <a:latin typeface="Times New Roman" charset="0"/>
                <a:cs typeface="+mn-cs"/>
              </a:rPr>
              <a:t>𝝆 </a:t>
            </a:r>
            <a:r>
              <a:rPr lang="en-US" dirty="0">
                <a:cs typeface="+mn-cs"/>
              </a:rPr>
              <a:t>= 10 </a:t>
            </a:r>
            <a:r>
              <a:rPr lang="en-US" dirty="0" err="1">
                <a:cs typeface="+mn-cs"/>
              </a:rPr>
              <a:t>Erlangs</a:t>
            </a:r>
            <a:r>
              <a:rPr lang="en-US" dirty="0">
                <a:cs typeface="+mn-cs"/>
              </a:rPr>
              <a:t> requires 18 trunks</a:t>
            </a:r>
          </a:p>
        </p:txBody>
      </p:sp>
    </p:spTree>
    <p:extLst>
      <p:ext uri="{BB962C8B-B14F-4D97-AF65-F5344CB8AC3E}">
        <p14:creationId xmlns:p14="http://schemas.microsoft.com/office/powerpoint/2010/main" val="3369506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2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>
                <a:cs typeface="+mj-cs"/>
              </a:rPr>
              <a:t>MATLAB Example </a:t>
            </a:r>
            <a:endParaRPr lang="en-US" dirty="0" smtClean="0">
              <a:cs typeface="+mj-cs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417638"/>
            <a:ext cx="6921500" cy="4881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7874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1105</Words>
  <Application>Microsoft Macintosh PowerPoint</Application>
  <PresentationFormat>On-screen Show (4:3)</PresentationFormat>
  <Paragraphs>151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Circuit and Packet Switching Networks</vt:lpstr>
      <vt:lpstr>Packet Switching vs. Circuit Switching</vt:lpstr>
      <vt:lpstr>Packet Switching</vt:lpstr>
      <vt:lpstr>Packet Switching</vt:lpstr>
      <vt:lpstr>Packet Switching</vt:lpstr>
      <vt:lpstr>Packet Switching</vt:lpstr>
      <vt:lpstr>Circuit Switching</vt:lpstr>
      <vt:lpstr>Circuit Switching</vt:lpstr>
      <vt:lpstr>Circuit Switching</vt:lpstr>
      <vt:lpstr>Circuit Switching</vt:lpstr>
      <vt:lpstr>Circuit Switching</vt:lpstr>
      <vt:lpstr>Circuit Switching</vt:lpstr>
      <vt:lpstr>Traffic Management &amp; Overload Control</vt:lpstr>
      <vt:lpstr>Traffic concentration</vt:lpstr>
      <vt:lpstr>Fluctuation in Trunk Occupancy</vt:lpstr>
      <vt:lpstr>Modeling Traffic Processes</vt:lpstr>
      <vt:lpstr>Blocking Probability &amp; Utilization</vt:lpstr>
      <vt:lpstr>Blocking Probability &amp; Utilization</vt:lpstr>
      <vt:lpstr>Blocking Performance</vt:lpstr>
      <vt:lpstr>MATLAB Example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Circuit-Switching Networks</dc:title>
  <dc:creator>Dr. Mohamad  Awad</dc:creator>
  <cp:lastModifiedBy>Dr. Mohamad  Awad</cp:lastModifiedBy>
  <cp:revision>7</cp:revision>
  <dcterms:created xsi:type="dcterms:W3CDTF">2013-03-22T10:53:39Z</dcterms:created>
  <dcterms:modified xsi:type="dcterms:W3CDTF">2013-03-23T16:40:25Z</dcterms:modified>
</cp:coreProperties>
</file>